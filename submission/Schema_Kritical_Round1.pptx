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55c9158b6854cc4" /><Relationship Type="http://schemas.openxmlformats.org/officeDocument/2006/relationships/extended-properties" Target="/docProps/app.xml" Id="Rd96dd98bf1e44af9" /><Relationship Type="http://schemas.openxmlformats.org/officeDocument/2006/relationships/officeDocument" Target="/ppt/presentation.xml" Id="Rf6ed22449bb14f9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85d403297e3468f"/>
  </p:sldMasterIdLst>
  <p:notesMasterIdLst>
    <p:notesMasterId xmlns:r="http://schemas.openxmlformats.org/officeDocument/2006/relationships" r:id="R82ae66d84cb248cd"/>
  </p:notesMasterIdLst>
  <p:sldIdLst>
    <p:sldId xmlns:r="http://schemas.openxmlformats.org/officeDocument/2006/relationships" id="256" r:id="Rc743ebbac7f44654"/>
    <p:sldId xmlns:r="http://schemas.openxmlformats.org/officeDocument/2006/relationships" id="257" r:id="R8d3df75ad22c4232"/>
    <p:sldId xmlns:r="http://schemas.openxmlformats.org/officeDocument/2006/relationships" id="258" r:id="R0560014e21e4499e"/>
    <p:sldId xmlns:r="http://schemas.openxmlformats.org/officeDocument/2006/relationships" id="259" r:id="Rc3e18f494af84d68"/>
    <p:sldId xmlns:r="http://schemas.openxmlformats.org/officeDocument/2006/relationships" id="260" r:id="R9b15f6415dba49c5"/>
    <p:sldId xmlns:r="http://schemas.openxmlformats.org/officeDocument/2006/relationships" id="261" r:id="R722b3d2a834248ae"/>
    <p:sldId xmlns:r="http://schemas.openxmlformats.org/officeDocument/2006/relationships" id="262" r:id="R99bb9871db26401d"/>
    <p:sldId xmlns:r="http://schemas.openxmlformats.org/officeDocument/2006/relationships" id="263" r:id="R96f0baf0077a45a2"/>
  </p:sldIdLst>
  <p:sldSz cx="9144000" cy="5143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9ea059381f4495e" /><Relationship Type="http://schemas.openxmlformats.org/officeDocument/2006/relationships/slideMaster" Target="/ppt/slideMasters/slideMaster1.xml" Id="R685d403297e3468f" /><Relationship Type="http://schemas.openxmlformats.org/officeDocument/2006/relationships/notesMaster" Target="/ppt/notesMasters/notesMaster1.xml" Id="R82ae66d84cb248cd" /><Relationship Type="http://schemas.openxmlformats.org/officeDocument/2006/relationships/presProps" Target="/ppt/presProps.xml" Id="R901de5c8a1b34225" /><Relationship Type="http://schemas.openxmlformats.org/officeDocument/2006/relationships/tableStyles" Target="/ppt/tableStyles.xml" Id="R4a0b7f556a474470" /><Relationship Type="http://schemas.openxmlformats.org/officeDocument/2006/relationships/slide" Target="/ppt/slides/slide1.xml" Id="Rc743ebbac7f44654" /><Relationship Type="http://schemas.openxmlformats.org/officeDocument/2006/relationships/slide" Target="/ppt/slides/slide2.xml" Id="R8d3df75ad22c4232" /><Relationship Type="http://schemas.openxmlformats.org/officeDocument/2006/relationships/slide" Target="/ppt/slides/slide3.xml" Id="R0560014e21e4499e" /><Relationship Type="http://schemas.openxmlformats.org/officeDocument/2006/relationships/slide" Target="/ppt/slides/slide4.xml" Id="Rc3e18f494af84d68" /><Relationship Type="http://schemas.openxmlformats.org/officeDocument/2006/relationships/slide" Target="/ppt/slides/slide5.xml" Id="R9b15f6415dba49c5" /><Relationship Type="http://schemas.openxmlformats.org/officeDocument/2006/relationships/slide" Target="/ppt/slides/slide6.xml" Id="R722b3d2a834248ae" /><Relationship Type="http://schemas.openxmlformats.org/officeDocument/2006/relationships/slide" Target="/ppt/slides/slide7.xml" Id="R99bb9871db26401d" /><Relationship Type="http://schemas.openxmlformats.org/officeDocument/2006/relationships/slide" Target="/ppt/slides/slide8.xml" Id="R96f0baf0077a45a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2b371830711414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fdc296f486146f9" /><Relationship Type="http://schemas.openxmlformats.org/officeDocument/2006/relationships/notesMaster" Target="/ppt/notesMasters/notesMaster1.xml" Id="R3d06b71243344ad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f1c2d39ff8941ea" /><Relationship Type="http://schemas.openxmlformats.org/officeDocument/2006/relationships/notesMaster" Target="/ppt/notesMasters/notesMaster1.xml" Id="R3c79622046f647f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62175097b5b4b92" /><Relationship Type="http://schemas.openxmlformats.org/officeDocument/2006/relationships/notesMaster" Target="/ppt/notesMasters/notesMaster1.xml" Id="R2ddfc22f27ce4b5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b63bd2490a04132" /><Relationship Type="http://schemas.openxmlformats.org/officeDocument/2006/relationships/notesMaster" Target="/ppt/notesMasters/notesMaster1.xml" Id="Ra02e62addcad42e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dadf6b625234177" /><Relationship Type="http://schemas.openxmlformats.org/officeDocument/2006/relationships/notesMaster" Target="/ppt/notesMasters/notesMaster1.xml" Id="Rdf7779dd466647d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7d14e380a47423e" /><Relationship Type="http://schemas.openxmlformats.org/officeDocument/2006/relationships/notesMaster" Target="/ppt/notesMasters/notesMaster1.xml" Id="R7f1d294e7839414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24f104216904c03" /><Relationship Type="http://schemas.openxmlformats.org/officeDocument/2006/relationships/notesMaster" Target="/ppt/notesMasters/notesMaster1.xml" Id="R46c2cd03227546f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3ccd53155e44caf" /><Relationship Type="http://schemas.openxmlformats.org/officeDocument/2006/relationships/notesMaster" Target="/ppt/notesMasters/notesMaster1.xml" Id="R3cb12b1cc4954d7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Schema preserves the story behind a photo. The user writes the personal note and approves any public event details before they enter the journal. The Kritical prototype uses TinyFish for that event-research step.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Our initial audience is adults aged 18–30 who want a private record of their lives. We propose a 20-person adult pilot to measure capture and revisits. This is a target, not completed research.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courtyard gig is an illustrative journal page. A personal note and public event context have different sources. The user chooses what to include, then edits and saves the page.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Live connected TinyFish provider run 43e6a572-a11c-45c5-b8b5-a355b2abe946 completed on 20 October 2026 in five steps. This was not an authenticated request from a deployed Schema host. Dates/venue independently checked: https://us.pycon.org/2026/ . Evidence JSON is included in source. API limit documentation: https://docs.tinyfish.ai/key-concepts/runs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Architecture verified from the copied source: app/api/tinyfish/route.ts, lib/tinyfish/provider.mjs, lib/tinyfish/context.mjs, lib/customer/ai.mjs and customer database adapters. Current standalone data layer uses Supabase Postgres/private storage. No pgvector/semantic retrieval or end-to-end encryption claim is made. Provider execution and authentication remain separate verification gates.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 prices, usage, FX, tax treatment and AI/support budgets are planning assumptions. Not a profit forecast. Detailed formulas: Schema_Kritical_Economics.xlsx. Provider rates checked 20 October 2026: https://www.tinyfish.ai/pricing ($0.016/step), https://supabase.com/pricing ($0.0213/GB-month storage and $0.09/GB uncached egress overages), https://razorpay.com/pricing/ (2% standard gateway fee, excludes promotions). A ₹149 tax-inclusive customer price is modeled with illustrative 18% sales tax and 18% tax on the gateway fee. Typical cost ₹26.607. Net receipts ₹122.755. Contribution ₹96.148 before free users and fixed costs. At 100 paid and 900 free users, typical cohort balance ≈₹2,860/month before salaries/acquisition, while the full-allowance stress case is slightly negative. No annual discount until real usage validates the model.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Competitors already provide media, AI, prompts and sharing, so those alone are not unique. Public USD prices checked 20 October 2026: https://dayoneapp.com/plans/ and https://journey.cloud/membership . These are not India checkout quotes or equivalent feature bundles. Schema plan limits are proposed, not implemented billing entitlements. Research trial cost needs a finite acquisition budget. Pilot numbers are targets, not achieved traction.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prototype includes journal editing, the life archive and TinyFish fact review. The automated suite covers core services, provider boundaries and reviewed-draft persistence, including an explicit recorded-result CLI reproduction. The five-step result is a live provider extraction, not a hosted-account acceptance test. Next, an opt-in adult pilot will test capture and revisits. Native mobile and semantic memory threads are future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2aec787197491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5c37c1913a43e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e2adb43d9e44f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d27c209cfa400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5a2253994a431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20c64abcf148e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B3E9270-2A7A-48DA-8538-A2B5ADE0790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14400" y="1943100"/>
            <a:ext cx="7315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2D9583D7-42E6-4924-B078-434AED92BF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2828925"/>
            <a:ext cx="6400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DD780D00-EA57-4073-A8BF-C75BA1F9F5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14400" y="2143125"/>
            <a:ext cx="731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E0D5C8A-72F1-432E-A392-2D0ACE342C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14350" y="400050"/>
            <a:ext cx="8115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EB450B7-1D4B-4CE7-814B-6A9B80D27BF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4350" y="1428750"/>
            <a:ext cx="8115300" cy="32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14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000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6286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8572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0858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3144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5430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7716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0002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E65E83E-7DAB-473B-AE19-86108F2D57A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14350" y="400050"/>
            <a:ext cx="8115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EC45B15-C4A1-4D4B-8EC4-EB26852BE54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4350" y="1428750"/>
            <a:ext cx="3771900" cy="32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14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000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6286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8572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0858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3144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5430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7716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0002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DBF9B33B-77D2-4736-85DB-795B74E18F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857750" y="1428750"/>
            <a:ext cx="3771900" cy="32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14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000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6286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8572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0858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3144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5430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7716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0002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D637EBC-813A-4B5B-A4DD-AB84849FE02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14350" y="400050"/>
            <a:ext cx="8115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C1EEE60-7D9F-49E6-81B0-262810F4DAF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4350" y="1428750"/>
            <a:ext cx="3771900" cy="32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14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000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6286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8572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0858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3144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5430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7716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0002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6645f27f3584efe" /><Relationship Type="http://schemas.openxmlformats.org/officeDocument/2006/relationships/slideLayout" Target="/ppt/slideLayouts/slideLayout1.xml" Id="R047f628595264a3a" /><Relationship Type="http://schemas.openxmlformats.org/officeDocument/2006/relationships/slideLayout" Target="/ppt/slideLayouts/slideLayout2.xml" Id="R55202d0e10244552" /><Relationship Type="http://schemas.openxmlformats.org/officeDocument/2006/relationships/slideLayout" Target="/ppt/slideLayouts/slideLayout3.xml" Id="R9e0dc27aef77475f" /><Relationship Type="http://schemas.openxmlformats.org/officeDocument/2006/relationships/slideLayout" Target="/ppt/slideLayouts/slideLayout4.xml" Id="Ra387af877615470a" /><Relationship Type="http://schemas.openxmlformats.org/officeDocument/2006/relationships/slideLayout" Target="/ppt/slideLayouts/slideLayout5.xml" Id="Ra3b374a3ddd04364" /><Relationship Type="http://schemas.openxmlformats.org/officeDocument/2006/relationships/slideLayout" Target="/ppt/slideLayouts/slideLayout6.xml" Id="R26d5fff445da468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47f628595264a3a"/>
    <p:sldLayoutId xmlns:r="http://schemas.openxmlformats.org/officeDocument/2006/relationships" id="2147483650" r:id="R55202d0e10244552"/>
    <p:sldLayoutId xmlns:r="http://schemas.openxmlformats.org/officeDocument/2006/relationships" id="2147483651" r:id="R9e0dc27aef77475f"/>
    <p:sldLayoutId xmlns:r="http://schemas.openxmlformats.org/officeDocument/2006/relationships" id="2147483652" r:id="Ra387af877615470a"/>
    <p:sldLayoutId xmlns:r="http://schemas.openxmlformats.org/officeDocument/2006/relationships" id="2147483653" r:id="Ra3b374a3ddd04364"/>
    <p:sldLayoutId xmlns:r="http://schemas.openxmlformats.org/officeDocument/2006/relationships" id="2147483654" r:id="R26d5fff445da468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eda384e627b4bc9" /><Relationship Type="http://schemas.openxmlformats.org/officeDocument/2006/relationships/image" Target="/ppt/media/image.png" Id="R5707a31b440a400e" /><Relationship Type="http://schemas.openxmlformats.org/officeDocument/2006/relationships/notesSlide" Target="/ppt/notesSlides/notesSlide1.xml" Id="Re6ea2f7cab2044f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3ffebad3a524ed5" /><Relationship Type="http://schemas.openxmlformats.org/officeDocument/2006/relationships/notesSlide" Target="/ppt/notesSlides/notesSlide2.xml" Id="R93e2fdb46ef444f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b87a67b6df549e3" /><Relationship Type="http://schemas.openxmlformats.org/officeDocument/2006/relationships/image" Target="/ppt/media/image2.png" Id="R1cc401bc6c9d4a4c" /><Relationship Type="http://schemas.openxmlformats.org/officeDocument/2006/relationships/notesSlide" Target="/ppt/notesSlides/notesSlide3.xml" Id="Rc3224de8600c4ed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3a6d8f8411d48f7" /><Relationship Type="http://schemas.openxmlformats.org/officeDocument/2006/relationships/notesSlide" Target="/ppt/notesSlides/notesSlide4.xml" Id="R56e389e1679f4f8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4a37dd40ed94cc0" /><Relationship Type="http://schemas.openxmlformats.org/officeDocument/2006/relationships/notesSlide" Target="/ppt/notesSlides/notesSlide5.xml" Id="R5013c53ab3684a2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1a443e3b3bd4517" /><Relationship Type="http://schemas.openxmlformats.org/officeDocument/2006/relationships/notesSlide" Target="/ppt/notesSlides/notesSlide6.xml" Id="Rca982bdbee0b47c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5c5764044214787" /><Relationship Type="http://schemas.openxmlformats.org/officeDocument/2006/relationships/notesSlide" Target="/ppt/notesSlides/notesSlide7.xml" Id="Rc5dd91e2cf4445f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2bc32b2acfc4e27" /><Relationship Type="http://schemas.openxmlformats.org/officeDocument/2006/relationships/notesSlide" Target="/ppt/notesSlides/notesSlide8.xml" Id="R3606e2b766aa495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EF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element-1">
            <a:extLst xmlns:a="http://schemas.openxmlformats.org/drawingml/2006/main">
              <a:ext uri="{FF2B5EF4-FFF2-40B4-BE49-F238E27FC236}">
                <a16:creationId xmlns:a16="http://schemas.microsoft.com/office/drawing/2014/main" id="{E629CECF-1A17-41FC-9FB9-434398A65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90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38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938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938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938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938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938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938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938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938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938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938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938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rPr>
              <a:t>SCHEMA</a:t>
            </a:r>
          </a:p>
        </p:txBody>
      </p:sp>
      <p:sp>
        <p:nvSpPr>
          <p:cNvPr id="2" name="element-2">
            <a:extLst xmlns:a="http://schemas.openxmlformats.org/drawingml/2006/main">
              <a:ext uri="{FF2B5EF4-FFF2-40B4-BE49-F238E27FC236}">
                <a16:creationId xmlns:a16="http://schemas.microsoft.com/office/drawing/2014/main" id="{51AE9B81-A303-4324-83FA-DFC69EEDF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57300"/>
            <a:ext cx="468630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5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defPPr>
            <a:lvl1pPr algn="l">
              <a:defRPr sz="35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1pPr>
            <a:lvl2pPr algn="l">
              <a:defRPr sz="35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2pPr>
            <a:lvl3pPr algn="l">
              <a:defRPr sz="35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3pPr>
            <a:lvl4pPr algn="l">
              <a:defRPr sz="35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4pPr>
            <a:lvl5pPr algn="l">
              <a:defRPr sz="35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5pPr>
            <a:lvl6pPr algn="l">
              <a:defRPr sz="35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6pPr>
            <a:lvl7pPr algn="l">
              <a:defRPr sz="35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7pPr>
            <a:lvl8pPr algn="l">
              <a:defRPr sz="35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8pPr>
            <a:lvl9pPr algn="l">
              <a:defRPr sz="35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9pPr>
          </a:lstStyle>
          <a:p xmlns:a="http://schemas.openxmlformats.org/drawingml/2006/main">
            <a:pPr algn="l">
              <a:defRPr sz="35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pPr>
            <a:r>
              <a:rPr sz="35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rPr>
              <a:t>Schema keeps the</a:t>
            </a:r>
          </a:p>
          <a:p xmlns:a="http://schemas.openxmlformats.org/drawingml/2006/main">
            <a:pPr algn="l">
              <a:defRPr sz="35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pPr>
            <a:r>
              <a:rPr sz="35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rPr>
              <a:t>story behind your</a:t>
            </a:r>
          </a:p>
          <a:p xmlns:a="http://schemas.openxmlformats.org/drawingml/2006/main">
            <a:pPr algn="l">
              <a:defRPr sz="35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pPr>
            <a:r>
              <a:rPr sz="35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rPr>
              <a:t>photos</a:t>
            </a:r>
          </a:p>
        </p:txBody>
      </p:sp>
      <p:sp>
        <p:nvSpPr>
          <p:cNvPr id="3" name="element-3">
            <a:extLst xmlns:a="http://schemas.openxmlformats.org/drawingml/2006/main">
              <a:ext uri="{FF2B5EF4-FFF2-40B4-BE49-F238E27FC236}">
                <a16:creationId xmlns:a16="http://schemas.microsoft.com/office/drawing/2014/main" id="{D9634406-C870-41A3-B999-5B25852F3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90850"/>
            <a:ext cx="46482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14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14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14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14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14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14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14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14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14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4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rPr>
              <a:t>A private journal for the details a photo misses. You write the notes. We add event facts from the event’s own page, and you approve each one.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8CE281-36E3-412D-8922-0398B3EBD01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07a31b440a400e"/>
          <a:stretch xmlns:a="http://schemas.openxmlformats.org/drawingml/2006/main"/>
        </p:blipFill>
        <p:spPr>
          <a:xfrm xmlns:a="http://schemas.openxmlformats.org/drawingml/2006/main">
            <a:off x="5381625" y="571500"/>
            <a:ext cx="3257550" cy="3429000"/>
          </a:xfrm>
          <a:prstGeom xmlns:a="http://schemas.openxmlformats.org/drawingml/2006/main" prst="rect">
            <a:avLst/>
          </a:prstGeom>
        </p:spPr>
      </p:pic>
      <p:sp>
        <p:nvSpPr>
          <p:cNvPr id="5" name="element-4">
            <a:extLst xmlns:a="http://schemas.openxmlformats.org/drawingml/2006/main">
              <a:ext uri="{FF2B5EF4-FFF2-40B4-BE49-F238E27FC236}">
                <a16:creationId xmlns:a16="http://schemas.microsoft.com/office/drawing/2014/main" id="{88C05DE0-6887-4A5D-97C5-A14E64943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52925"/>
            <a:ext cx="609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120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120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120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120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120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120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120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120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120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120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20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rPr>
              <a:t>Team LineOfCode  ·  Delhi Technological University</a:t>
            </a:r>
          </a:p>
        </p:txBody>
      </p:sp>
      <p:sp>
        <p:nvSpPr>
          <p:cNvPr id="6" name="element-5">
            <a:extLst xmlns:a="http://schemas.openxmlformats.org/drawingml/2006/main">
              <a:ext uri="{FF2B5EF4-FFF2-40B4-BE49-F238E27FC236}">
                <a16:creationId xmlns:a16="http://schemas.microsoft.com/office/drawing/2014/main" id="{01AADD68-4DD5-4003-9EE7-A3487CCB9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91050"/>
            <a:ext cx="619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1050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1050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1050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1050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1050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1050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1050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1050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1050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050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rPr>
              <a:t>Kritical Hacks 2026  ·  AI/ML Student Track</a:t>
            </a:r>
          </a:p>
        </p:txBody>
      </p:sp>
    </p:spTree>
    <p:extLst>
      <p:ext uri="{BB962C8B-B14F-4D97-AF65-F5344CB8AC3E}">
        <p14:creationId xmlns:p14="http://schemas.microsoft.com/office/powerpoint/2010/main" val="210670138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EF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element-6">
            <a:extLst xmlns:a="http://schemas.openxmlformats.org/drawingml/2006/main">
              <a:ext uri="{FF2B5EF4-FFF2-40B4-BE49-F238E27FC236}">
                <a16:creationId xmlns:a16="http://schemas.microsoft.com/office/drawing/2014/main" id="{4B2F4F85-C51B-418A-AC73-4D6622901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52437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defPPr>
            <a:lvl1pPr algn="l">
              <a:defRPr sz="270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1pPr>
            <a:lvl2pPr algn="l">
              <a:defRPr sz="270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2pPr>
            <a:lvl3pPr algn="l">
              <a:defRPr sz="270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3pPr>
            <a:lvl4pPr algn="l">
              <a:defRPr sz="270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4pPr>
            <a:lvl5pPr algn="l">
              <a:defRPr sz="270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5pPr>
            <a:lvl6pPr algn="l">
              <a:defRPr sz="270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6pPr>
            <a:lvl7pPr algn="l">
              <a:defRPr sz="270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7pPr>
            <a:lvl8pPr algn="l">
              <a:defRPr sz="270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8pPr>
            <a:lvl9pPr algn="l">
              <a:defRPr sz="270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9pPr>
          </a:lstStyle>
          <a:p xmlns:a="http://schemas.openxmlformats.org/drawingml/2006/main">
            <a:pPr algn="l">
              <a:defRPr sz="270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pPr>
            <a:r>
              <a:rPr sz="270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rPr>
              <a:t>A photo keeps the scene.</a:t>
            </a:r>
          </a:p>
          <a:p xmlns:a="http://schemas.openxmlformats.org/drawingml/2006/main">
            <a:pPr algn="l">
              <a:defRPr sz="270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pPr>
            <a:r>
              <a:rPr sz="270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rPr>
              <a:t>The details walk away.</a:t>
            </a:r>
          </a:p>
        </p:txBody>
      </p:sp>
      <p:sp>
        <p:nvSpPr>
          <p:cNvPr id="2" name="element-7">
            <a:extLst xmlns:a="http://schemas.openxmlformats.org/drawingml/2006/main">
              <a:ext uri="{FF2B5EF4-FFF2-40B4-BE49-F238E27FC236}">
                <a16:creationId xmlns:a16="http://schemas.microsoft.com/office/drawing/2014/main" id="{F205275E-1D61-430B-8D88-310B969DE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95300"/>
            <a:ext cx="3333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38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938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938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938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938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938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938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938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938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938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938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938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rPr>
              <a:t>WHAT A PHOTO CANNOT HOLD</a:t>
            </a:r>
          </a:p>
        </p:txBody>
      </p:sp>
      <p:sp>
        <p:nvSpPr>
          <p:cNvPr id="3" name="element-8">
            <a:extLst xmlns:a="http://schemas.openxmlformats.org/drawingml/2006/main">
              <a:ext uri="{FF2B5EF4-FFF2-40B4-BE49-F238E27FC236}">
                <a16:creationId xmlns:a16="http://schemas.microsoft.com/office/drawing/2014/main" id="{843DB34A-4C59-41F2-AF6D-598E926BA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781050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C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element-9">
            <a:extLst xmlns:a="http://schemas.openxmlformats.org/drawingml/2006/main">
              <a:ext uri="{FF2B5EF4-FFF2-40B4-BE49-F238E27FC236}">
                <a16:creationId xmlns:a16="http://schemas.microsoft.com/office/drawing/2014/main" id="{844F9845-F38C-4EEC-9253-779F4905C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93345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 i="1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defPPr>
            <a:lvl1pPr algn="l">
              <a:defRPr sz="1350" b="0" i="1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1pPr>
            <a:lvl2pPr algn="l">
              <a:defRPr sz="1350" b="0" i="1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2pPr>
            <a:lvl3pPr algn="l">
              <a:defRPr sz="1350" b="0" i="1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3pPr>
            <a:lvl4pPr algn="l">
              <a:defRPr sz="1350" b="0" i="1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4pPr>
            <a:lvl5pPr algn="l">
              <a:defRPr sz="1350" b="0" i="1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5pPr>
            <a:lvl6pPr algn="l">
              <a:defRPr sz="1350" b="0" i="1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6pPr>
            <a:lvl7pPr algn="l">
              <a:defRPr sz="1350" b="0" i="1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7pPr>
            <a:lvl8pPr algn="l">
              <a:defRPr sz="1350" b="0" i="1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8pPr>
            <a:lvl9pPr algn="l">
              <a:defRPr sz="1350" b="0" i="1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9pPr>
          </a:lstStyle>
          <a:p xmlns:a="http://schemas.openxmlformats.org/drawingml/2006/main">
            <a:pPr algn="l">
              <a:defRPr sz="1350" b="0" i="1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pPr>
            <a:r>
              <a:rPr sz="1350" b="0" i="1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rPr>
              <a:t>A stranger arguing outside the gate</a:t>
            </a:r>
          </a:p>
        </p:txBody>
      </p:sp>
      <p:sp>
        <p:nvSpPr>
          <p:cNvPr id="5" name="element-10">
            <a:extLst xmlns:a="http://schemas.openxmlformats.org/drawingml/2006/main">
              <a:ext uri="{FF2B5EF4-FFF2-40B4-BE49-F238E27FC236}">
                <a16:creationId xmlns:a16="http://schemas.microsoft.com/office/drawing/2014/main" id="{E7AEEA20-DFDA-4491-86EC-4789F7ECE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1295400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C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element-11">
            <a:extLst xmlns:a="http://schemas.openxmlformats.org/drawingml/2006/main">
              <a:ext uri="{FF2B5EF4-FFF2-40B4-BE49-F238E27FC236}">
                <a16:creationId xmlns:a16="http://schemas.microsoft.com/office/drawing/2014/main" id="{86F00A9E-B3AA-4E36-9575-43BCF0AF4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1381125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 i="1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defPPr>
            <a:lvl1pPr algn="l">
              <a:defRPr sz="1350" b="0" i="1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1pPr>
            <a:lvl2pPr algn="l">
              <a:defRPr sz="1350" b="0" i="1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2pPr>
            <a:lvl3pPr algn="l">
              <a:defRPr sz="1350" b="0" i="1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3pPr>
            <a:lvl4pPr algn="l">
              <a:defRPr sz="1350" b="0" i="1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4pPr>
            <a:lvl5pPr algn="l">
              <a:defRPr sz="1350" b="0" i="1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5pPr>
            <a:lvl6pPr algn="l">
              <a:defRPr sz="1350" b="0" i="1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6pPr>
            <a:lvl7pPr algn="l">
              <a:defRPr sz="1350" b="0" i="1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7pPr>
            <a:lvl8pPr algn="l">
              <a:defRPr sz="1350" b="0" i="1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8pPr>
            <a:lvl9pPr algn="l">
              <a:defRPr sz="1350" b="0" i="1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9pPr>
          </a:lstStyle>
          <a:p xmlns:a="http://schemas.openxmlformats.org/drawingml/2006/main">
            <a:pPr algn="l">
              <a:defRPr sz="1350" b="0" i="1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pPr>
            <a:r>
              <a:rPr sz="1350" b="0" i="1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rPr>
              <a:t>A kid who smiled when you gave ₹50</a:t>
            </a:r>
          </a:p>
        </p:txBody>
      </p:sp>
      <p:sp>
        <p:nvSpPr>
          <p:cNvPr id="7" name="element-12">
            <a:extLst xmlns:a="http://schemas.openxmlformats.org/drawingml/2006/main">
              <a:ext uri="{FF2B5EF4-FFF2-40B4-BE49-F238E27FC236}">
                <a16:creationId xmlns:a16="http://schemas.microsoft.com/office/drawing/2014/main" id="{0C668656-59FD-4637-AB29-FDF98A9A8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1743075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C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element-13">
            <a:extLst xmlns:a="http://schemas.openxmlformats.org/drawingml/2006/main">
              <a:ext uri="{FF2B5EF4-FFF2-40B4-BE49-F238E27FC236}">
                <a16:creationId xmlns:a16="http://schemas.microsoft.com/office/drawing/2014/main" id="{F61300B9-5400-410A-BF57-1ADA2C8AE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182880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 i="1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defPPr>
            <a:lvl1pPr algn="l">
              <a:defRPr sz="1350" b="0" i="1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1pPr>
            <a:lvl2pPr algn="l">
              <a:defRPr sz="1350" b="0" i="1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2pPr>
            <a:lvl3pPr algn="l">
              <a:defRPr sz="1350" b="0" i="1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3pPr>
            <a:lvl4pPr algn="l">
              <a:defRPr sz="1350" b="0" i="1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4pPr>
            <a:lvl5pPr algn="l">
              <a:defRPr sz="1350" b="0" i="1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5pPr>
            <a:lvl6pPr algn="l">
              <a:defRPr sz="1350" b="0" i="1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6pPr>
            <a:lvl7pPr algn="l">
              <a:defRPr sz="1350" b="0" i="1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7pPr>
            <a:lvl8pPr algn="l">
              <a:defRPr sz="1350" b="0" i="1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8pPr>
            <a:lvl9pPr algn="l">
              <a:defRPr sz="1350" b="0" i="1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9pPr>
          </a:lstStyle>
          <a:p xmlns:a="http://schemas.openxmlformats.org/drawingml/2006/main">
            <a:pPr algn="l">
              <a:defRPr sz="1350" b="0" i="1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pPr>
            <a:r>
              <a:rPr sz="1350" b="0" i="1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rPr>
              <a:t>Who was there, and why it mattered</a:t>
            </a:r>
          </a:p>
        </p:txBody>
      </p:sp>
      <p:sp>
        <p:nvSpPr>
          <p:cNvPr id="9" name="element-14">
            <a:extLst xmlns:a="http://schemas.openxmlformats.org/drawingml/2006/main">
              <a:ext uri="{FF2B5EF4-FFF2-40B4-BE49-F238E27FC236}">
                <a16:creationId xmlns:a16="http://schemas.microsoft.com/office/drawing/2014/main" id="{04F4A947-E346-4F5D-B73D-08BEFD160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190750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C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element-15">
            <a:extLst xmlns:a="http://schemas.openxmlformats.org/drawingml/2006/main">
              <a:ext uri="{FF2B5EF4-FFF2-40B4-BE49-F238E27FC236}">
                <a16:creationId xmlns:a16="http://schemas.microsoft.com/office/drawing/2014/main" id="{EE8656AA-8BD2-4046-BEE6-89554F7C4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00275"/>
            <a:ext cx="4333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75" b="1" i="0">
                <a:solidFill>
                  <a:srgbClr val="BD422C"/>
                </a:solidFill>
                <a:latin typeface="TeX Gyre Schola"/>
                <a:ea typeface="TeX Gyre Schola"/>
                <a:cs typeface="TeX Gyre Schola"/>
              </a:defRPr>
            </a:defPPr>
            <a:lvl1pPr algn="l">
              <a:defRPr sz="2775" b="1" i="0">
                <a:solidFill>
                  <a:srgbClr val="BD422C"/>
                </a:solidFill>
                <a:latin typeface="TeX Gyre Schola"/>
                <a:ea typeface="TeX Gyre Schola"/>
                <a:cs typeface="TeX Gyre Schola"/>
              </a:defRPr>
            </a:lvl1pPr>
            <a:lvl2pPr algn="l">
              <a:defRPr sz="2775" b="1" i="0">
                <a:solidFill>
                  <a:srgbClr val="BD422C"/>
                </a:solidFill>
                <a:latin typeface="TeX Gyre Schola"/>
                <a:ea typeface="TeX Gyre Schola"/>
                <a:cs typeface="TeX Gyre Schola"/>
              </a:defRPr>
            </a:lvl2pPr>
            <a:lvl3pPr algn="l">
              <a:defRPr sz="2775" b="1" i="0">
                <a:solidFill>
                  <a:srgbClr val="BD422C"/>
                </a:solidFill>
                <a:latin typeface="TeX Gyre Schola"/>
                <a:ea typeface="TeX Gyre Schola"/>
                <a:cs typeface="TeX Gyre Schola"/>
              </a:defRPr>
            </a:lvl3pPr>
            <a:lvl4pPr algn="l">
              <a:defRPr sz="2775" b="1" i="0">
                <a:solidFill>
                  <a:srgbClr val="BD422C"/>
                </a:solidFill>
                <a:latin typeface="TeX Gyre Schola"/>
                <a:ea typeface="TeX Gyre Schola"/>
                <a:cs typeface="TeX Gyre Schola"/>
              </a:defRPr>
            </a:lvl4pPr>
            <a:lvl5pPr algn="l">
              <a:defRPr sz="2775" b="1" i="0">
                <a:solidFill>
                  <a:srgbClr val="BD422C"/>
                </a:solidFill>
                <a:latin typeface="TeX Gyre Schola"/>
                <a:ea typeface="TeX Gyre Schola"/>
                <a:cs typeface="TeX Gyre Schola"/>
              </a:defRPr>
            </a:lvl5pPr>
            <a:lvl6pPr algn="l">
              <a:defRPr sz="2775" b="1" i="0">
                <a:solidFill>
                  <a:srgbClr val="BD422C"/>
                </a:solidFill>
                <a:latin typeface="TeX Gyre Schola"/>
                <a:ea typeface="TeX Gyre Schola"/>
                <a:cs typeface="TeX Gyre Schola"/>
              </a:defRPr>
            </a:lvl6pPr>
            <a:lvl7pPr algn="l">
              <a:defRPr sz="2775" b="1" i="0">
                <a:solidFill>
                  <a:srgbClr val="BD422C"/>
                </a:solidFill>
                <a:latin typeface="TeX Gyre Schola"/>
                <a:ea typeface="TeX Gyre Schola"/>
                <a:cs typeface="TeX Gyre Schola"/>
              </a:defRPr>
            </a:lvl7pPr>
            <a:lvl8pPr algn="l">
              <a:defRPr sz="2775" b="1" i="0">
                <a:solidFill>
                  <a:srgbClr val="BD422C"/>
                </a:solidFill>
                <a:latin typeface="TeX Gyre Schola"/>
                <a:ea typeface="TeX Gyre Schola"/>
                <a:cs typeface="TeX Gyre Schola"/>
              </a:defRPr>
            </a:lvl8pPr>
            <a:lvl9pPr algn="l">
              <a:defRPr sz="2775" b="1" i="0">
                <a:solidFill>
                  <a:srgbClr val="BD422C"/>
                </a:solidFill>
                <a:latin typeface="TeX Gyre Schola"/>
                <a:ea typeface="TeX Gyre Schola"/>
                <a:cs typeface="TeX Gyre Schola"/>
              </a:defRPr>
            </a:lvl9pPr>
          </a:lstStyle>
          <a:p xmlns:a="http://schemas.openxmlformats.org/drawingml/2006/main">
            <a:pPr algn="l">
              <a:defRPr sz="2775" b="1" i="0">
                <a:solidFill>
                  <a:srgbClr val="BD422C"/>
                </a:solidFill>
                <a:latin typeface="TeX Gyre Schola"/>
                <a:ea typeface="TeX Gyre Schola"/>
                <a:cs typeface="TeX Gyre Schola"/>
              </a:defRPr>
            </a:pPr>
            <a:r>
              <a:rPr sz="2775" b="1" i="0">
                <a:solidFill>
                  <a:srgbClr val="BD422C"/>
                </a:solidFill>
                <a:latin typeface="TeX Gyre Schola"/>
                <a:ea typeface="TeX Gyre Schola"/>
                <a:cs typeface="TeX Gyre Schola"/>
              </a:rPr>
              <a:t>One photo.</a:t>
            </a:r>
          </a:p>
          <a:p xmlns:a="http://schemas.openxmlformats.org/drawingml/2006/main">
            <a:pPr algn="l">
              <a:defRPr sz="2775" b="1" i="0">
                <a:solidFill>
                  <a:srgbClr val="BD422C"/>
                </a:solidFill>
                <a:latin typeface="TeX Gyre Schola"/>
                <a:ea typeface="TeX Gyre Schola"/>
                <a:cs typeface="TeX Gyre Schola"/>
              </a:defRPr>
            </a:pPr>
            <a:r>
              <a:rPr sz="2775" b="1" i="0">
                <a:solidFill>
                  <a:srgbClr val="BD422C"/>
                </a:solidFill>
                <a:latin typeface="TeX Gyre Schola"/>
                <a:ea typeface="TeX Gyre Schola"/>
                <a:cs typeface="TeX Gyre Schola"/>
              </a:rPr>
              <a:t>A few words.</a:t>
            </a:r>
          </a:p>
        </p:txBody>
      </p:sp>
      <p:sp>
        <p:nvSpPr>
          <p:cNvPr id="11" name="element-16">
            <a:extLst xmlns:a="http://schemas.openxmlformats.org/drawingml/2006/main">
              <a:ext uri="{FF2B5EF4-FFF2-40B4-BE49-F238E27FC236}">
                <a16:creationId xmlns:a16="http://schemas.microsoft.com/office/drawing/2014/main" id="{047EBF9E-7F23-4EF3-9DD8-3E45271B2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0995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rPr>
              <a:t>WHO IT IS FOR</a:t>
            </a:r>
          </a:p>
        </p:txBody>
      </p:sp>
      <p:sp>
        <p:nvSpPr>
          <p:cNvPr id="12" name="element-17">
            <a:extLst xmlns:a="http://schemas.openxmlformats.org/drawingml/2006/main">
              <a:ext uri="{FF2B5EF4-FFF2-40B4-BE49-F238E27FC236}">
                <a16:creationId xmlns:a16="http://schemas.microsoft.com/office/drawing/2014/main" id="{C3145D9F-F947-471B-8946-210D3E219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38550"/>
            <a:ext cx="404812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rPr>
              <a:t>Adults aged 18–30 who photograph their days and want to keep the story privately.</a:t>
            </a:r>
          </a:p>
        </p:txBody>
      </p:sp>
      <p:sp>
        <p:nvSpPr>
          <p:cNvPr id="13" name="element-18">
            <a:extLst xmlns:a="http://schemas.openxmlformats.org/drawingml/2006/main">
              <a:ext uri="{FF2B5EF4-FFF2-40B4-BE49-F238E27FC236}">
                <a16:creationId xmlns:a16="http://schemas.microsoft.com/office/drawing/2014/main" id="{F4403268-495B-4749-AF58-7EED07028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762250"/>
            <a:ext cx="3333750" cy="1685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CF7"/>
          </a:solidFill>
          <a:ln xmlns:a="http://schemas.openxmlformats.org/drawingml/2006/main" w="9525">
            <a:solidFill>
              <a:srgbClr val="21281F"/>
            </a:solidFill>
            <a:prstDash val="solid"/>
          </a:ln>
        </p:spPr>
      </p:sp>
      <p:sp>
        <p:nvSpPr>
          <p:cNvPr id="14" name="element-19">
            <a:extLst xmlns:a="http://schemas.openxmlformats.org/drawingml/2006/main">
              <a:ext uri="{FF2B5EF4-FFF2-40B4-BE49-F238E27FC236}">
                <a16:creationId xmlns:a16="http://schemas.microsoft.com/office/drawing/2014/main" id="{0C086D80-66BC-4F54-9EF9-6F852F605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2933700"/>
            <a:ext cx="3028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rPr>
              <a:t>WHY WE ARE BUILDING THIS</a:t>
            </a:r>
          </a:p>
        </p:txBody>
      </p:sp>
      <p:sp>
        <p:nvSpPr>
          <p:cNvPr id="15" name="element-20">
            <a:extLst xmlns:a="http://schemas.openxmlformats.org/drawingml/2006/main">
              <a:ext uri="{FF2B5EF4-FFF2-40B4-BE49-F238E27FC236}">
                <a16:creationId xmlns:a16="http://schemas.microsoft.com/office/drawing/2014/main" id="{05F00F70-2A7A-4943-B278-496F12E2E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3238500"/>
            <a:ext cx="30289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defPPr>
            <a:lvl1pPr algn="l">
              <a:defRPr sz="1350" b="0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1pPr>
            <a:lvl2pPr algn="l">
              <a:defRPr sz="1350" b="0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2pPr>
            <a:lvl3pPr algn="l">
              <a:defRPr sz="1350" b="0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3pPr>
            <a:lvl4pPr algn="l">
              <a:defRPr sz="1350" b="0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4pPr>
            <a:lvl5pPr algn="l">
              <a:defRPr sz="1350" b="0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5pPr>
            <a:lvl6pPr algn="l">
              <a:defRPr sz="1350" b="0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6pPr>
            <a:lvl7pPr algn="l">
              <a:defRPr sz="1350" b="0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7pPr>
            <a:lvl8pPr algn="l">
              <a:defRPr sz="1350" b="0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8pPr>
            <a:lvl9pPr algn="l">
              <a:defRPr sz="1350" b="0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pPr>
            <a:r>
              <a:rPr sz="1350" b="0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rPr>
              <a:t>Photos help us remember where we were. Our own words preserve why a day mattered. Schema brings them together in pages we can return to.</a:t>
            </a:r>
          </a:p>
        </p:txBody>
      </p:sp>
      <p:sp>
        <p:nvSpPr>
          <p:cNvPr id="16" name="element-21">
            <a:extLst xmlns:a="http://schemas.openxmlformats.org/drawingml/2006/main">
              <a:ext uri="{FF2B5EF4-FFF2-40B4-BE49-F238E27FC236}">
                <a16:creationId xmlns:a16="http://schemas.microsoft.com/office/drawing/2014/main" id="{B4E2CD46-8EB0-4306-8A48-8DB1E99A8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76750"/>
            <a:ext cx="7477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1050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1050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1050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1050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1050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1050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1050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1050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1050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050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rPr>
              <a:t>Expected benefit: easier capture and meaningful revisits. A 20-person adult pilot will test both.</a:t>
            </a:r>
          </a:p>
        </p:txBody>
      </p:sp>
      <p:sp>
        <p:nvSpPr>
          <p:cNvPr id="17" name="element-22">
            <a:extLst xmlns:a="http://schemas.openxmlformats.org/drawingml/2006/main">
              <a:ext uri="{FF2B5EF4-FFF2-40B4-BE49-F238E27FC236}">
                <a16:creationId xmlns:a16="http://schemas.microsoft.com/office/drawing/2014/main" id="{277CA4C2-2FC9-4DBB-A4C0-170B5AA92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857750"/>
            <a:ext cx="381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defPPr>
            <a:lvl1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1pPr>
            <a:lvl2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2pPr>
            <a:lvl3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3pPr>
            <a:lvl4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4pPr>
            <a:lvl5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5pPr>
            <a:lvl6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6pPr>
            <a:lvl7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7pPr>
            <a:lvl8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8pPr>
            <a:lvl9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rPr>
              <a:t>2 / 8</a:t>
            </a:r>
          </a:p>
        </p:txBody>
      </p:sp>
    </p:spTree>
    <p:extLst>
      <p:ext uri="{BB962C8B-B14F-4D97-AF65-F5344CB8AC3E}">
        <p14:creationId xmlns:p14="http://schemas.microsoft.com/office/powerpoint/2010/main" val="24830511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EF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element-23">
            <a:extLst xmlns:a="http://schemas.openxmlformats.org/drawingml/2006/main">
              <a:ext uri="{FF2B5EF4-FFF2-40B4-BE49-F238E27FC236}">
                <a16:creationId xmlns:a16="http://schemas.microsoft.com/office/drawing/2014/main" id="{A4E8D43F-C981-4C43-B5C7-09AF248C6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8096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defPPr>
            <a:lvl1pPr algn="l">
              <a:def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1pPr>
            <a:lvl2pPr algn="l">
              <a:def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2pPr>
            <a:lvl3pPr algn="l">
              <a:def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3pPr>
            <a:lvl4pPr algn="l">
              <a:def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4pPr>
            <a:lvl5pPr algn="l">
              <a:def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5pPr>
            <a:lvl6pPr algn="l">
              <a:def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6pPr>
            <a:lvl7pPr algn="l">
              <a:def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7pPr>
            <a:lvl8pPr algn="l">
              <a:def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8pPr>
            <a:lvl9pPr algn="l">
              <a:def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9pPr>
          </a:lstStyle>
          <a:p xmlns:a="http://schemas.openxmlformats.org/drawingml/2006/main">
            <a:pPr algn="l">
              <a:def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pPr>
            <a:r>
              <a: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rPr>
              <a:t>One page holds your memory and where</a:t>
            </a:r>
          </a:p>
          <a:p xmlns:a="http://schemas.openxmlformats.org/drawingml/2006/main">
            <a:pPr algn="l">
              <a:def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pPr>
            <a:r>
              <a: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rPr>
              <a:t>each fact came from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268136-2160-4169-87F2-DE1BF88C940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c401bc6c9d4a4c"/>
          <a:stretch xmlns:a="http://schemas.openxmlformats.org/drawingml/2006/main"/>
        </p:blipFill>
        <p:spPr>
          <a:xfrm xmlns:a="http://schemas.openxmlformats.org/drawingml/2006/main">
            <a:off x="504825" y="1676400"/>
            <a:ext cx="4972050" cy="2743200"/>
          </a:xfrm>
          <a:prstGeom xmlns:a="http://schemas.openxmlformats.org/drawingml/2006/main" prst="rect">
            <a:avLst/>
          </a:prstGeom>
        </p:spPr>
      </p:pic>
      <p:sp>
        <p:nvSpPr>
          <p:cNvPr id="3" name="element-24">
            <a:extLst xmlns:a="http://schemas.openxmlformats.org/drawingml/2006/main">
              <a:ext uri="{FF2B5EF4-FFF2-40B4-BE49-F238E27FC236}">
                <a16:creationId xmlns:a16="http://schemas.microsoft.com/office/drawing/2014/main" id="{82914CC1-C920-4B23-9859-1FF1B76A4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85925"/>
            <a:ext cx="28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0" i="0">
                <a:solidFill>
                  <a:srgbClr val="BD422C"/>
                </a:solidFill>
                <a:latin typeface="TeX Gyre Schola"/>
                <a:ea typeface="TeX Gyre Schola"/>
                <a:cs typeface="TeX Gyre Schola"/>
              </a:defRPr>
            </a:defPPr>
            <a:lvl1pPr algn="l">
              <a:defRPr sz="2400" b="0" i="0">
                <a:solidFill>
                  <a:srgbClr val="BD422C"/>
                </a:solidFill>
                <a:latin typeface="TeX Gyre Schola"/>
                <a:ea typeface="TeX Gyre Schola"/>
                <a:cs typeface="TeX Gyre Schola"/>
              </a:defRPr>
            </a:lvl1pPr>
            <a:lvl2pPr algn="l">
              <a:defRPr sz="2400" b="0" i="0">
                <a:solidFill>
                  <a:srgbClr val="BD422C"/>
                </a:solidFill>
                <a:latin typeface="TeX Gyre Schola"/>
                <a:ea typeface="TeX Gyre Schola"/>
                <a:cs typeface="TeX Gyre Schola"/>
              </a:defRPr>
            </a:lvl2pPr>
            <a:lvl3pPr algn="l">
              <a:defRPr sz="2400" b="0" i="0">
                <a:solidFill>
                  <a:srgbClr val="BD422C"/>
                </a:solidFill>
                <a:latin typeface="TeX Gyre Schola"/>
                <a:ea typeface="TeX Gyre Schola"/>
                <a:cs typeface="TeX Gyre Schola"/>
              </a:defRPr>
            </a:lvl3pPr>
            <a:lvl4pPr algn="l">
              <a:defRPr sz="2400" b="0" i="0">
                <a:solidFill>
                  <a:srgbClr val="BD422C"/>
                </a:solidFill>
                <a:latin typeface="TeX Gyre Schola"/>
                <a:ea typeface="TeX Gyre Schola"/>
                <a:cs typeface="TeX Gyre Schola"/>
              </a:defRPr>
            </a:lvl4pPr>
            <a:lvl5pPr algn="l">
              <a:defRPr sz="2400" b="0" i="0">
                <a:solidFill>
                  <a:srgbClr val="BD422C"/>
                </a:solidFill>
                <a:latin typeface="TeX Gyre Schola"/>
                <a:ea typeface="TeX Gyre Schola"/>
                <a:cs typeface="TeX Gyre Schola"/>
              </a:defRPr>
            </a:lvl5pPr>
            <a:lvl6pPr algn="l">
              <a:defRPr sz="2400" b="0" i="0">
                <a:solidFill>
                  <a:srgbClr val="BD422C"/>
                </a:solidFill>
                <a:latin typeface="TeX Gyre Schola"/>
                <a:ea typeface="TeX Gyre Schola"/>
                <a:cs typeface="TeX Gyre Schola"/>
              </a:defRPr>
            </a:lvl6pPr>
            <a:lvl7pPr algn="l">
              <a:defRPr sz="2400" b="0" i="0">
                <a:solidFill>
                  <a:srgbClr val="BD422C"/>
                </a:solidFill>
                <a:latin typeface="TeX Gyre Schola"/>
                <a:ea typeface="TeX Gyre Schola"/>
                <a:cs typeface="TeX Gyre Schola"/>
              </a:defRPr>
            </a:lvl7pPr>
            <a:lvl8pPr algn="l">
              <a:defRPr sz="2400" b="0" i="0">
                <a:solidFill>
                  <a:srgbClr val="BD422C"/>
                </a:solidFill>
                <a:latin typeface="TeX Gyre Schola"/>
                <a:ea typeface="TeX Gyre Schola"/>
                <a:cs typeface="TeX Gyre Schola"/>
              </a:defRPr>
            </a:lvl8pPr>
            <a:lvl9pPr algn="l">
              <a:defRPr sz="2400" b="0" i="0">
                <a:solidFill>
                  <a:srgbClr val="BD422C"/>
                </a:solidFill>
                <a:latin typeface="TeX Gyre Schola"/>
                <a:ea typeface="TeX Gyre Schola"/>
                <a:cs typeface="TeX Gyre Schola"/>
              </a:defRPr>
            </a:lvl9pPr>
          </a:lstStyle>
          <a:p xmlns:a="http://schemas.openxmlformats.org/drawingml/2006/main">
            <a:pPr algn="l">
              <a:defRPr sz="2400" b="0" i="0">
                <a:solidFill>
                  <a:srgbClr val="BD422C"/>
                </a:solidFill>
                <a:latin typeface="TeX Gyre Schola"/>
                <a:ea typeface="TeX Gyre Schola"/>
                <a:cs typeface="TeX Gyre Schola"/>
              </a:defRPr>
            </a:pPr>
            <a:r>
              <a:rPr sz="2400" b="0" i="0">
                <a:solidFill>
                  <a:srgbClr val="BD422C"/>
                </a:solidFill>
                <a:latin typeface="TeX Gyre Schola"/>
                <a:ea typeface="TeX Gyre Schola"/>
                <a:cs typeface="TeX Gyre Schola"/>
              </a:rPr>
              <a:t>1</a:t>
            </a:r>
          </a:p>
        </p:txBody>
      </p:sp>
      <p:sp>
        <p:nvSpPr>
          <p:cNvPr id="4" name="element-25">
            <a:extLst xmlns:a="http://schemas.openxmlformats.org/drawingml/2006/main">
              <a:ext uri="{FF2B5EF4-FFF2-40B4-BE49-F238E27FC236}">
                <a16:creationId xmlns:a16="http://schemas.microsoft.com/office/drawing/2014/main" id="{58C19D0D-636B-4112-97F1-B18715D35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1714500"/>
            <a:ext cx="23907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rPr>
              <a:t>Add photos and write what you would forget</a:t>
            </a:r>
          </a:p>
        </p:txBody>
      </p:sp>
      <p:sp>
        <p:nvSpPr>
          <p:cNvPr id="5" name="element-26">
            <a:extLst xmlns:a="http://schemas.openxmlformats.org/drawingml/2006/main">
              <a:ext uri="{FF2B5EF4-FFF2-40B4-BE49-F238E27FC236}">
                <a16:creationId xmlns:a16="http://schemas.microsoft.com/office/drawing/2014/main" id="{2E8D402A-698B-47D3-AA75-EDA5E7B15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2133600"/>
            <a:ext cx="23907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rPr>
              <a:t>Your words keep the personal part of the story.</a:t>
            </a:r>
          </a:p>
        </p:txBody>
      </p:sp>
      <p:sp>
        <p:nvSpPr>
          <p:cNvPr id="6" name="element-27">
            <a:extLst xmlns:a="http://schemas.openxmlformats.org/drawingml/2006/main">
              <a:ext uri="{FF2B5EF4-FFF2-40B4-BE49-F238E27FC236}">
                <a16:creationId xmlns:a16="http://schemas.microsoft.com/office/drawing/2014/main" id="{68734CB1-EB5C-4E9B-80F0-4877159EB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486025"/>
            <a:ext cx="28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0" i="0">
                <a:solidFill>
                  <a:srgbClr val="BD422C"/>
                </a:solidFill>
                <a:latin typeface="TeX Gyre Schola"/>
                <a:ea typeface="TeX Gyre Schola"/>
                <a:cs typeface="TeX Gyre Schola"/>
              </a:defRPr>
            </a:defPPr>
            <a:lvl1pPr algn="l">
              <a:defRPr sz="2400" b="0" i="0">
                <a:solidFill>
                  <a:srgbClr val="BD422C"/>
                </a:solidFill>
                <a:latin typeface="TeX Gyre Schola"/>
                <a:ea typeface="TeX Gyre Schola"/>
                <a:cs typeface="TeX Gyre Schola"/>
              </a:defRPr>
            </a:lvl1pPr>
            <a:lvl2pPr algn="l">
              <a:defRPr sz="2400" b="0" i="0">
                <a:solidFill>
                  <a:srgbClr val="BD422C"/>
                </a:solidFill>
                <a:latin typeface="TeX Gyre Schola"/>
                <a:ea typeface="TeX Gyre Schola"/>
                <a:cs typeface="TeX Gyre Schola"/>
              </a:defRPr>
            </a:lvl2pPr>
            <a:lvl3pPr algn="l">
              <a:defRPr sz="2400" b="0" i="0">
                <a:solidFill>
                  <a:srgbClr val="BD422C"/>
                </a:solidFill>
                <a:latin typeface="TeX Gyre Schola"/>
                <a:ea typeface="TeX Gyre Schola"/>
                <a:cs typeface="TeX Gyre Schola"/>
              </a:defRPr>
            </a:lvl3pPr>
            <a:lvl4pPr algn="l">
              <a:defRPr sz="2400" b="0" i="0">
                <a:solidFill>
                  <a:srgbClr val="BD422C"/>
                </a:solidFill>
                <a:latin typeface="TeX Gyre Schola"/>
                <a:ea typeface="TeX Gyre Schola"/>
                <a:cs typeface="TeX Gyre Schola"/>
              </a:defRPr>
            </a:lvl4pPr>
            <a:lvl5pPr algn="l">
              <a:defRPr sz="2400" b="0" i="0">
                <a:solidFill>
                  <a:srgbClr val="BD422C"/>
                </a:solidFill>
                <a:latin typeface="TeX Gyre Schola"/>
                <a:ea typeface="TeX Gyre Schola"/>
                <a:cs typeface="TeX Gyre Schola"/>
              </a:defRPr>
            </a:lvl5pPr>
            <a:lvl6pPr algn="l">
              <a:defRPr sz="2400" b="0" i="0">
                <a:solidFill>
                  <a:srgbClr val="BD422C"/>
                </a:solidFill>
                <a:latin typeface="TeX Gyre Schola"/>
                <a:ea typeface="TeX Gyre Schola"/>
                <a:cs typeface="TeX Gyre Schola"/>
              </a:defRPr>
            </a:lvl6pPr>
            <a:lvl7pPr algn="l">
              <a:defRPr sz="2400" b="0" i="0">
                <a:solidFill>
                  <a:srgbClr val="BD422C"/>
                </a:solidFill>
                <a:latin typeface="TeX Gyre Schola"/>
                <a:ea typeface="TeX Gyre Schola"/>
                <a:cs typeface="TeX Gyre Schola"/>
              </a:defRPr>
            </a:lvl7pPr>
            <a:lvl8pPr algn="l">
              <a:defRPr sz="2400" b="0" i="0">
                <a:solidFill>
                  <a:srgbClr val="BD422C"/>
                </a:solidFill>
                <a:latin typeface="TeX Gyre Schola"/>
                <a:ea typeface="TeX Gyre Schola"/>
                <a:cs typeface="TeX Gyre Schola"/>
              </a:defRPr>
            </a:lvl8pPr>
            <a:lvl9pPr algn="l">
              <a:defRPr sz="2400" b="0" i="0">
                <a:solidFill>
                  <a:srgbClr val="BD422C"/>
                </a:solidFill>
                <a:latin typeface="TeX Gyre Schola"/>
                <a:ea typeface="TeX Gyre Schola"/>
                <a:cs typeface="TeX Gyre Schola"/>
              </a:defRPr>
            </a:lvl9pPr>
          </a:lstStyle>
          <a:p xmlns:a="http://schemas.openxmlformats.org/drawingml/2006/main">
            <a:pPr algn="l">
              <a:defRPr sz="2400" b="0" i="0">
                <a:solidFill>
                  <a:srgbClr val="BD422C"/>
                </a:solidFill>
                <a:latin typeface="TeX Gyre Schola"/>
                <a:ea typeface="TeX Gyre Schola"/>
                <a:cs typeface="TeX Gyre Schola"/>
              </a:defRPr>
            </a:pPr>
            <a:r>
              <a:rPr sz="2400" b="0" i="0">
                <a:solidFill>
                  <a:srgbClr val="BD422C"/>
                </a:solidFill>
                <a:latin typeface="TeX Gyre Schola"/>
                <a:ea typeface="TeX Gyre Schola"/>
                <a:cs typeface="TeX Gyre Schola"/>
              </a:rPr>
              <a:t>2</a:t>
            </a:r>
          </a:p>
        </p:txBody>
      </p:sp>
      <p:sp>
        <p:nvSpPr>
          <p:cNvPr id="7" name="element-28">
            <a:extLst xmlns:a="http://schemas.openxmlformats.org/drawingml/2006/main">
              <a:ext uri="{FF2B5EF4-FFF2-40B4-BE49-F238E27FC236}">
                <a16:creationId xmlns:a16="http://schemas.microsoft.com/office/drawing/2014/main" id="{C058713C-DE22-40C4-A452-63B39504B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2514600"/>
            <a:ext cx="23907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rPr>
              <a:t>Paste a public event link</a:t>
            </a:r>
          </a:p>
        </p:txBody>
      </p:sp>
      <p:sp>
        <p:nvSpPr>
          <p:cNvPr id="8" name="element-29">
            <a:extLst xmlns:a="http://schemas.openxmlformats.org/drawingml/2006/main">
              <a:ext uri="{FF2B5EF4-FFF2-40B4-BE49-F238E27FC236}">
                <a16:creationId xmlns:a16="http://schemas.microsoft.com/office/drawing/2014/main" id="{6C795CE6-6C80-45D5-9EB7-33410941C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2933700"/>
            <a:ext cx="23907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rPr>
              <a:t>TinyFish finds the title, date, venue and program.</a:t>
            </a:r>
          </a:p>
        </p:txBody>
      </p:sp>
      <p:sp>
        <p:nvSpPr>
          <p:cNvPr id="9" name="element-30">
            <a:extLst xmlns:a="http://schemas.openxmlformats.org/drawingml/2006/main">
              <a:ext uri="{FF2B5EF4-FFF2-40B4-BE49-F238E27FC236}">
                <a16:creationId xmlns:a16="http://schemas.microsoft.com/office/drawing/2014/main" id="{DC5C4DDD-F095-4DDE-8C5E-EE58785F4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286125"/>
            <a:ext cx="28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0" i="0">
                <a:solidFill>
                  <a:srgbClr val="BD422C"/>
                </a:solidFill>
                <a:latin typeface="TeX Gyre Schola"/>
                <a:ea typeface="TeX Gyre Schola"/>
                <a:cs typeface="TeX Gyre Schola"/>
              </a:defRPr>
            </a:defPPr>
            <a:lvl1pPr algn="l">
              <a:defRPr sz="2400" b="0" i="0">
                <a:solidFill>
                  <a:srgbClr val="BD422C"/>
                </a:solidFill>
                <a:latin typeface="TeX Gyre Schola"/>
                <a:ea typeface="TeX Gyre Schola"/>
                <a:cs typeface="TeX Gyre Schola"/>
              </a:defRPr>
            </a:lvl1pPr>
            <a:lvl2pPr algn="l">
              <a:defRPr sz="2400" b="0" i="0">
                <a:solidFill>
                  <a:srgbClr val="BD422C"/>
                </a:solidFill>
                <a:latin typeface="TeX Gyre Schola"/>
                <a:ea typeface="TeX Gyre Schola"/>
                <a:cs typeface="TeX Gyre Schola"/>
              </a:defRPr>
            </a:lvl2pPr>
            <a:lvl3pPr algn="l">
              <a:defRPr sz="2400" b="0" i="0">
                <a:solidFill>
                  <a:srgbClr val="BD422C"/>
                </a:solidFill>
                <a:latin typeface="TeX Gyre Schola"/>
                <a:ea typeface="TeX Gyre Schola"/>
                <a:cs typeface="TeX Gyre Schola"/>
              </a:defRPr>
            </a:lvl3pPr>
            <a:lvl4pPr algn="l">
              <a:defRPr sz="2400" b="0" i="0">
                <a:solidFill>
                  <a:srgbClr val="BD422C"/>
                </a:solidFill>
                <a:latin typeface="TeX Gyre Schola"/>
                <a:ea typeface="TeX Gyre Schola"/>
                <a:cs typeface="TeX Gyre Schola"/>
              </a:defRPr>
            </a:lvl4pPr>
            <a:lvl5pPr algn="l">
              <a:defRPr sz="2400" b="0" i="0">
                <a:solidFill>
                  <a:srgbClr val="BD422C"/>
                </a:solidFill>
                <a:latin typeface="TeX Gyre Schola"/>
                <a:ea typeface="TeX Gyre Schola"/>
                <a:cs typeface="TeX Gyre Schola"/>
              </a:defRPr>
            </a:lvl5pPr>
            <a:lvl6pPr algn="l">
              <a:defRPr sz="2400" b="0" i="0">
                <a:solidFill>
                  <a:srgbClr val="BD422C"/>
                </a:solidFill>
                <a:latin typeface="TeX Gyre Schola"/>
                <a:ea typeface="TeX Gyre Schola"/>
                <a:cs typeface="TeX Gyre Schola"/>
              </a:defRPr>
            </a:lvl6pPr>
            <a:lvl7pPr algn="l">
              <a:defRPr sz="2400" b="0" i="0">
                <a:solidFill>
                  <a:srgbClr val="BD422C"/>
                </a:solidFill>
                <a:latin typeface="TeX Gyre Schola"/>
                <a:ea typeface="TeX Gyre Schola"/>
                <a:cs typeface="TeX Gyre Schola"/>
              </a:defRPr>
            </a:lvl7pPr>
            <a:lvl8pPr algn="l">
              <a:defRPr sz="2400" b="0" i="0">
                <a:solidFill>
                  <a:srgbClr val="BD422C"/>
                </a:solidFill>
                <a:latin typeface="TeX Gyre Schola"/>
                <a:ea typeface="TeX Gyre Schola"/>
                <a:cs typeface="TeX Gyre Schola"/>
              </a:defRPr>
            </a:lvl8pPr>
            <a:lvl9pPr algn="l">
              <a:defRPr sz="2400" b="0" i="0">
                <a:solidFill>
                  <a:srgbClr val="BD422C"/>
                </a:solidFill>
                <a:latin typeface="TeX Gyre Schola"/>
                <a:ea typeface="TeX Gyre Schola"/>
                <a:cs typeface="TeX Gyre Schola"/>
              </a:defRPr>
            </a:lvl9pPr>
          </a:lstStyle>
          <a:p xmlns:a="http://schemas.openxmlformats.org/drawingml/2006/main">
            <a:pPr algn="l">
              <a:defRPr sz="2400" b="0" i="0">
                <a:solidFill>
                  <a:srgbClr val="BD422C"/>
                </a:solidFill>
                <a:latin typeface="TeX Gyre Schola"/>
                <a:ea typeface="TeX Gyre Schola"/>
                <a:cs typeface="TeX Gyre Schola"/>
              </a:defRPr>
            </a:pPr>
            <a:r>
              <a:rPr sz="2400" b="0" i="0">
                <a:solidFill>
                  <a:srgbClr val="BD422C"/>
                </a:solidFill>
                <a:latin typeface="TeX Gyre Schola"/>
                <a:ea typeface="TeX Gyre Schola"/>
                <a:cs typeface="TeX Gyre Schola"/>
              </a:rPr>
              <a:t>3</a:t>
            </a:r>
          </a:p>
        </p:txBody>
      </p:sp>
      <p:sp>
        <p:nvSpPr>
          <p:cNvPr id="10" name="element-31">
            <a:extLst xmlns:a="http://schemas.openxmlformats.org/drawingml/2006/main">
              <a:ext uri="{FF2B5EF4-FFF2-40B4-BE49-F238E27FC236}">
                <a16:creationId xmlns:a16="http://schemas.microsoft.com/office/drawing/2014/main" id="{6DA84866-EEEA-4020-A0C3-7ACB47FE3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3314700"/>
            <a:ext cx="23907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rPr>
              <a:t>Check each fact, then save</a:t>
            </a:r>
          </a:p>
        </p:txBody>
      </p:sp>
      <p:sp>
        <p:nvSpPr>
          <p:cNvPr id="11" name="element-32">
            <a:extLst xmlns:a="http://schemas.openxmlformats.org/drawingml/2006/main">
              <a:ext uri="{FF2B5EF4-FFF2-40B4-BE49-F238E27FC236}">
                <a16:creationId xmlns:a16="http://schemas.microsoft.com/office/drawing/2014/main" id="{C7EA82C7-A08F-4594-A6C2-7586C9F03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3733800"/>
            <a:ext cx="23907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rPr>
              <a:t>Only selected facts enter your editable draft.</a:t>
            </a:r>
          </a:p>
        </p:txBody>
      </p:sp>
      <p:sp>
        <p:nvSpPr>
          <p:cNvPr id="12" name="element-33">
            <a:extLst xmlns:a="http://schemas.openxmlformats.org/drawingml/2006/main">
              <a:ext uri="{FF2B5EF4-FFF2-40B4-BE49-F238E27FC236}">
                <a16:creationId xmlns:a16="http://schemas.microsoft.com/office/drawing/2014/main" id="{9AAC060F-0EF8-44C0-BF2D-0046E919F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267200"/>
            <a:ext cx="2724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C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element-34">
            <a:extLst xmlns:a="http://schemas.openxmlformats.org/drawingml/2006/main">
              <a:ext uri="{FF2B5EF4-FFF2-40B4-BE49-F238E27FC236}">
                <a16:creationId xmlns:a16="http://schemas.microsoft.com/office/drawing/2014/main" id="{36C6123F-BBD4-437D-9CCD-E9024777B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3815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rPr>
              <a:t>Later: revisit pages by year, person or place.</a:t>
            </a:r>
          </a:p>
        </p:txBody>
      </p:sp>
      <p:sp>
        <p:nvSpPr>
          <p:cNvPr id="14" name="element-35">
            <a:extLst xmlns:a="http://schemas.openxmlformats.org/drawingml/2006/main">
              <a:ext uri="{FF2B5EF4-FFF2-40B4-BE49-F238E27FC236}">
                <a16:creationId xmlns:a16="http://schemas.microsoft.com/office/drawing/2014/main" id="{405A5FC6-2B13-4560-9F96-0CBC57718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857750"/>
            <a:ext cx="381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defPPr>
            <a:lvl1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1pPr>
            <a:lvl2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2pPr>
            <a:lvl3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3pPr>
            <a:lvl4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4pPr>
            <a:lvl5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5pPr>
            <a:lvl6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6pPr>
            <a:lvl7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7pPr>
            <a:lvl8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8pPr>
            <a:lvl9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rPr>
              <a:t>3 / 8</a:t>
            </a:r>
          </a:p>
        </p:txBody>
      </p:sp>
    </p:spTree>
    <p:extLst>
      <p:ext uri="{BB962C8B-B14F-4D97-AF65-F5344CB8AC3E}">
        <p14:creationId xmlns:p14="http://schemas.microsoft.com/office/powerpoint/2010/main" val="20004376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EF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element-36">
            <a:extLst xmlns:a="http://schemas.openxmlformats.org/drawingml/2006/main">
              <a:ext uri="{FF2B5EF4-FFF2-40B4-BE49-F238E27FC236}">
                <a16:creationId xmlns:a16="http://schemas.microsoft.com/office/drawing/2014/main" id="{7884DA2C-B6CD-4917-AE73-DC3970BAF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8096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defPPr>
            <a:lvl1pPr algn="l">
              <a:def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1pPr>
            <a:lvl2pPr algn="l">
              <a:def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2pPr>
            <a:lvl3pPr algn="l">
              <a:def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3pPr>
            <a:lvl4pPr algn="l">
              <a:def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4pPr>
            <a:lvl5pPr algn="l">
              <a:def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5pPr>
            <a:lvl6pPr algn="l">
              <a:def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6pPr>
            <a:lvl7pPr algn="l">
              <a:def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7pPr>
            <a:lvl8pPr algn="l">
              <a:def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8pPr>
            <a:lvl9pPr algn="l">
              <a:def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9pPr>
          </a:lstStyle>
          <a:p xmlns:a="http://schemas.openxmlformats.org/drawingml/2006/main">
            <a:pPr algn="l">
              <a:def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pPr>
            <a:r>
              <a: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rPr>
              <a:t>TinyFish reads the event page. You approve</a:t>
            </a:r>
          </a:p>
          <a:p xmlns:a="http://schemas.openxmlformats.org/drawingml/2006/main">
            <a:pPr algn="l">
              <a:def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pPr>
            <a:r>
              <a: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rPr>
              <a:t>what it finds.</a:t>
            </a:r>
          </a:p>
        </p:txBody>
      </p:sp>
      <p:sp>
        <p:nvSpPr>
          <p:cNvPr id="2" name="element-37">
            <a:extLst xmlns:a="http://schemas.openxmlformats.org/drawingml/2006/main">
              <a:ext uri="{FF2B5EF4-FFF2-40B4-BE49-F238E27FC236}">
                <a16:creationId xmlns:a16="http://schemas.microsoft.com/office/drawing/2014/main" id="{F3B155AF-04D4-4A64-BE0C-D0C615415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62075"/>
            <a:ext cx="19431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CF7"/>
          </a:solidFill>
          <a:ln xmlns:a="http://schemas.openxmlformats.org/drawingml/2006/main" w="9525">
            <a:solidFill>
              <a:srgbClr val="21281F"/>
            </a:solidFill>
            <a:prstDash val="solid"/>
          </a:ln>
        </p:spPr>
      </p:sp>
      <p:sp>
        <p:nvSpPr>
          <p:cNvPr id="3" name="element-38">
            <a:extLst xmlns:a="http://schemas.openxmlformats.org/drawingml/2006/main">
              <a:ext uri="{FF2B5EF4-FFF2-40B4-BE49-F238E27FC236}">
                <a16:creationId xmlns:a16="http://schemas.microsoft.com/office/drawing/2014/main" id="{87970F04-9635-4426-BC9C-5C79FE414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9542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120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120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120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120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120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120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120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120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120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120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20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rPr>
              <a:t>1. Public event link</a:t>
            </a:r>
          </a:p>
        </p:txBody>
      </p:sp>
      <p:sp>
        <p:nvSpPr>
          <p:cNvPr id="4" name="element-39">
            <a:extLst xmlns:a="http://schemas.openxmlformats.org/drawingml/2006/main">
              <a:ext uri="{FF2B5EF4-FFF2-40B4-BE49-F238E27FC236}">
                <a16:creationId xmlns:a16="http://schemas.microsoft.com/office/drawing/2014/main" id="{4148CD30-2398-4B4B-9C69-88D8D01CD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rPr>
              <a:t>One URL, supplied by you.</a:t>
            </a:r>
          </a:p>
        </p:txBody>
      </p:sp>
      <p:sp>
        <p:nvSpPr>
          <p:cNvPr id="5" name="element-40">
            <a:extLst xmlns:a="http://schemas.openxmlformats.org/drawingml/2006/main">
              <a:ext uri="{FF2B5EF4-FFF2-40B4-BE49-F238E27FC236}">
                <a16:creationId xmlns:a16="http://schemas.microsoft.com/office/drawing/2014/main" id="{69712E4B-C044-478F-91D1-282CA6E09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362075"/>
            <a:ext cx="19431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281F"/>
          </a:solidFill>
          <a:ln xmlns:a="http://schemas.openxmlformats.org/drawingml/2006/main" w="9525">
            <a:solidFill>
              <a:srgbClr val="21281F"/>
            </a:solidFill>
            <a:prstDash val="solid"/>
          </a:ln>
        </p:spPr>
      </p:sp>
      <p:sp>
        <p:nvSpPr>
          <p:cNvPr id="6" name="element-41">
            <a:extLst xmlns:a="http://schemas.openxmlformats.org/drawingml/2006/main">
              <a:ext uri="{FF2B5EF4-FFF2-40B4-BE49-F238E27FC236}">
                <a16:creationId xmlns:a16="http://schemas.microsoft.com/office/drawing/2014/main" id="{F83592E7-891D-4D22-ABD1-1B104185C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49542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1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1200" b="1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1200" b="1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1200" b="1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1200" b="1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1200" b="1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1200" b="1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1200" b="1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1200" b="1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1200" b="1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1200" b="1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200" b="1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rPr>
              <a:t>2. Browser agent</a:t>
            </a:r>
          </a:p>
        </p:txBody>
      </p:sp>
      <p:sp>
        <p:nvSpPr>
          <p:cNvPr id="7" name="element-42">
            <a:extLst xmlns:a="http://schemas.openxmlformats.org/drawingml/2006/main">
              <a:ext uri="{FF2B5EF4-FFF2-40B4-BE49-F238E27FC236}">
                <a16:creationId xmlns:a16="http://schemas.microsoft.com/office/drawing/2014/main" id="{B643AFA0-E8A4-4823-8C92-7D1FCFB24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80975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1125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1125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1125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1125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1125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1125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1125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1125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1125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125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rPr>
              <a:t>Reads event details and schedule sections.</a:t>
            </a:r>
          </a:p>
        </p:txBody>
      </p:sp>
      <p:sp>
        <p:nvSpPr>
          <p:cNvPr id="8" name="element-43">
            <a:extLst xmlns:a="http://schemas.openxmlformats.org/drawingml/2006/main">
              <a:ext uri="{FF2B5EF4-FFF2-40B4-BE49-F238E27FC236}">
                <a16:creationId xmlns:a16="http://schemas.microsoft.com/office/drawing/2014/main" id="{2A6E235F-E0CD-4123-A4D2-105A93503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362075"/>
            <a:ext cx="19431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CF7"/>
          </a:solidFill>
          <a:ln xmlns:a="http://schemas.openxmlformats.org/drawingml/2006/main" w="9525">
            <a:solidFill>
              <a:srgbClr val="21281F"/>
            </a:solidFill>
            <a:prstDash val="solid"/>
          </a:ln>
        </p:spPr>
      </p:sp>
      <p:sp>
        <p:nvSpPr>
          <p:cNvPr id="9" name="element-44">
            <a:extLst xmlns:a="http://schemas.openxmlformats.org/drawingml/2006/main">
              <a:ext uri="{FF2B5EF4-FFF2-40B4-BE49-F238E27FC236}">
                <a16:creationId xmlns:a16="http://schemas.microsoft.com/office/drawing/2014/main" id="{CC481556-DD79-4454-A3B0-6BE7BE0D4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49542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120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120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120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120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120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120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120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120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120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120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20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rPr>
              <a:t>3. Proposed facts</a:t>
            </a:r>
          </a:p>
        </p:txBody>
      </p:sp>
      <p:sp>
        <p:nvSpPr>
          <p:cNvPr id="10" name="element-45">
            <a:extLst xmlns:a="http://schemas.openxmlformats.org/drawingml/2006/main">
              <a:ext uri="{FF2B5EF4-FFF2-40B4-BE49-F238E27FC236}">
                <a16:creationId xmlns:a16="http://schemas.microsoft.com/office/drawing/2014/main" id="{D0AD7CDB-D3A2-4E70-BFD7-5EAFE365E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80975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rPr>
              <a:t>Title, dates, venue, program and source.</a:t>
            </a:r>
          </a:p>
        </p:txBody>
      </p:sp>
      <p:sp>
        <p:nvSpPr>
          <p:cNvPr id="11" name="element-46">
            <a:extLst xmlns:a="http://schemas.openxmlformats.org/drawingml/2006/main">
              <a:ext uri="{FF2B5EF4-FFF2-40B4-BE49-F238E27FC236}">
                <a16:creationId xmlns:a16="http://schemas.microsoft.com/office/drawing/2014/main" id="{AD000BB6-9182-4C88-8CED-03DED421D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362075"/>
            <a:ext cx="19431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422C"/>
          </a:solidFill>
          <a:ln xmlns:a="http://schemas.openxmlformats.org/drawingml/2006/main" w="9525">
            <a:solidFill>
              <a:srgbClr val="21281F"/>
            </a:solidFill>
            <a:prstDash val="solid"/>
          </a:ln>
        </p:spPr>
      </p:sp>
      <p:sp>
        <p:nvSpPr>
          <p:cNvPr id="12" name="element-47">
            <a:extLst xmlns:a="http://schemas.openxmlformats.org/drawingml/2006/main">
              <a:ext uri="{FF2B5EF4-FFF2-40B4-BE49-F238E27FC236}">
                <a16:creationId xmlns:a16="http://schemas.microsoft.com/office/drawing/2014/main" id="{0E2C5FF6-9D7E-4C75-956D-2A7627E06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49542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1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1200" b="1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1200" b="1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1200" b="1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1200" b="1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1200" b="1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1200" b="1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1200" b="1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1200" b="1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1200" b="1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1200" b="1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200" b="1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rPr>
              <a:t>4. Reviewed draft</a:t>
            </a:r>
          </a:p>
        </p:txBody>
      </p:sp>
      <p:sp>
        <p:nvSpPr>
          <p:cNvPr id="13" name="element-48">
            <a:extLst xmlns:a="http://schemas.openxmlformats.org/drawingml/2006/main">
              <a:ext uri="{FF2B5EF4-FFF2-40B4-BE49-F238E27FC236}">
                <a16:creationId xmlns:a16="http://schemas.microsoft.com/office/drawing/2014/main" id="{97453918-BCD9-45F0-B9D6-1BA4261E9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80975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1125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1125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1125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1125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1125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1125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1125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1125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1125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125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rPr>
              <a:t>You select facts before saving.</a:t>
            </a:r>
          </a:p>
        </p:txBody>
      </p:sp>
      <p:sp>
        <p:nvSpPr>
          <p:cNvPr id="14" name="element-49">
            <a:extLst xmlns:a="http://schemas.openxmlformats.org/drawingml/2006/main">
              <a:ext uri="{FF2B5EF4-FFF2-40B4-BE49-F238E27FC236}">
                <a16:creationId xmlns:a16="http://schemas.microsoft.com/office/drawing/2014/main" id="{5B0239C2-E60D-4459-A2F6-CCE3978E6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05100"/>
            <a:ext cx="3762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rPr>
              <a:t>A REAL PROVIDER TEST</a:t>
            </a:r>
          </a:p>
        </p:txBody>
      </p:sp>
      <p:sp>
        <p:nvSpPr>
          <p:cNvPr id="15" name="element-50">
            <a:extLst xmlns:a="http://schemas.openxmlformats.org/drawingml/2006/main">
              <a:ext uri="{FF2B5EF4-FFF2-40B4-BE49-F238E27FC236}">
                <a16:creationId xmlns:a16="http://schemas.microsoft.com/office/drawing/2014/main" id="{171ABEFE-FA71-4D17-A395-AC724ED6B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62275"/>
            <a:ext cx="3714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defPPr>
            <a:lvl1pPr algn="l">
              <a:defRPr sz="187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1pPr>
            <a:lvl2pPr algn="l">
              <a:defRPr sz="187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2pPr>
            <a:lvl3pPr algn="l">
              <a:defRPr sz="187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3pPr>
            <a:lvl4pPr algn="l">
              <a:defRPr sz="187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4pPr>
            <a:lvl5pPr algn="l">
              <a:defRPr sz="187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5pPr>
            <a:lvl6pPr algn="l">
              <a:defRPr sz="187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6pPr>
            <a:lvl7pPr algn="l">
              <a:defRPr sz="187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7pPr>
            <a:lvl8pPr algn="l">
              <a:defRPr sz="187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8pPr>
            <a:lvl9pPr algn="l">
              <a:defRPr sz="187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9pPr>
          </a:lstStyle>
          <a:p xmlns:a="http://schemas.openxmlformats.org/drawingml/2006/main">
            <a:pPr algn="l">
              <a:defRPr sz="187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pPr>
            <a:r>
              <a:rPr sz="187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rPr>
              <a:t>PyCon US 2026</a:t>
            </a:r>
          </a:p>
        </p:txBody>
      </p:sp>
      <p:sp>
        <p:nvSpPr>
          <p:cNvPr id="16" name="element-51">
            <a:extLst xmlns:a="http://schemas.openxmlformats.org/drawingml/2006/main">
              <a:ext uri="{FF2B5EF4-FFF2-40B4-BE49-F238E27FC236}">
                <a16:creationId xmlns:a16="http://schemas.microsoft.com/office/drawing/2014/main" id="{1BB10F08-654E-4291-9E32-78CD20597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43275"/>
            <a:ext cx="3714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rPr>
              <a:t>13–19 May 2026</a:t>
            </a:r>
          </a:p>
          <a:p xmlns:a="http://schemas.openxmlformats.org/drawingml/2006/main">
            <a: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rPr>
              <a:t>Long Beach Convention Center</a:t>
            </a:r>
          </a:p>
          <a:p xmlns:a="http://schemas.openxmlformats.org/drawingml/2006/main">
            <a: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rPr>
              <a:t>Tutorials, keynotes and AI track</a:t>
            </a:r>
          </a:p>
        </p:txBody>
      </p:sp>
      <p:sp>
        <p:nvSpPr>
          <p:cNvPr id="17" name="element-52">
            <a:extLst xmlns:a="http://schemas.openxmlformats.org/drawingml/2006/main">
              <a:ext uri="{FF2B5EF4-FFF2-40B4-BE49-F238E27FC236}">
                <a16:creationId xmlns:a16="http://schemas.microsoft.com/office/drawing/2014/main" id="{1A338C7F-3CA9-4232-BB95-97F0A8077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70510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rPr>
              <a:t>WHY THE AGENT IS USEFUL</a:t>
            </a:r>
          </a:p>
        </p:txBody>
      </p:sp>
      <p:sp>
        <p:nvSpPr>
          <p:cNvPr id="18" name="element-53">
            <a:extLst xmlns:a="http://schemas.openxmlformats.org/drawingml/2006/main">
              <a:ext uri="{FF2B5EF4-FFF2-40B4-BE49-F238E27FC236}">
                <a16:creationId xmlns:a16="http://schemas.microsoft.com/office/drawing/2014/main" id="{8BDD72A3-00C4-439D-8622-C29ADDC9F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962275"/>
            <a:ext cx="40005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rPr>
              <a:t>Program details can sit behind navigation and interactive sections. The agent can follow those paths and return structured candidates for review.</a:t>
            </a:r>
          </a:p>
        </p:txBody>
      </p:sp>
      <p:sp>
        <p:nvSpPr>
          <p:cNvPr id="19" name="element-54">
            <a:extLst xmlns:a="http://schemas.openxmlformats.org/drawingml/2006/main">
              <a:ext uri="{FF2B5EF4-FFF2-40B4-BE49-F238E27FC236}">
                <a16:creationId xmlns:a16="http://schemas.microsoft.com/office/drawing/2014/main" id="{5EB25EB5-950C-433C-98B8-BC00426C2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962400"/>
            <a:ext cx="400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rPr>
              <a:t>The live provider test completed in 5 steps. The app adapter has a 12-step cap and server-side credentials.</a:t>
            </a:r>
          </a:p>
        </p:txBody>
      </p:sp>
      <p:sp>
        <p:nvSpPr>
          <p:cNvPr id="20" name="element-55">
            <a:extLst xmlns:a="http://schemas.openxmlformats.org/drawingml/2006/main">
              <a:ext uri="{FF2B5EF4-FFF2-40B4-BE49-F238E27FC236}">
                <a16:creationId xmlns:a16="http://schemas.microsoft.com/office/drawing/2014/main" id="{B247793C-8EDB-4C19-920D-8DD0824F5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00575"/>
            <a:ext cx="75914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0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975" b="0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975" b="0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975" b="0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975" b="0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975" b="0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975" b="0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975" b="0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975" b="0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975" b="0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975" b="0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975" b="0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rPr>
              <a:t>Private notes and photos stay outside TinyFish. Selected facts keep their source link and retrieval time.</a:t>
            </a:r>
          </a:p>
        </p:txBody>
      </p:sp>
      <p:sp>
        <p:nvSpPr>
          <p:cNvPr id="21" name="element-56">
            <a:extLst xmlns:a="http://schemas.openxmlformats.org/drawingml/2006/main">
              <a:ext uri="{FF2B5EF4-FFF2-40B4-BE49-F238E27FC236}">
                <a16:creationId xmlns:a16="http://schemas.microsoft.com/office/drawing/2014/main" id="{070017F1-775D-4146-A96E-82AB152F9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857750"/>
            <a:ext cx="381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defPPr>
            <a:lvl1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1pPr>
            <a:lvl2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2pPr>
            <a:lvl3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3pPr>
            <a:lvl4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4pPr>
            <a:lvl5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5pPr>
            <a:lvl6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6pPr>
            <a:lvl7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7pPr>
            <a:lvl8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8pPr>
            <a:lvl9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rPr>
              <a:t>4 / 8</a:t>
            </a:r>
          </a:p>
        </p:txBody>
      </p:sp>
    </p:spTree>
    <p:extLst>
      <p:ext uri="{BB962C8B-B14F-4D97-AF65-F5344CB8AC3E}">
        <p14:creationId xmlns:p14="http://schemas.microsoft.com/office/powerpoint/2010/main" val="40478802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EF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element-57">
            <a:extLst xmlns:a="http://schemas.openxmlformats.org/drawingml/2006/main">
              <a:ext uri="{FF2B5EF4-FFF2-40B4-BE49-F238E27FC236}">
                <a16:creationId xmlns:a16="http://schemas.microsoft.com/office/drawing/2014/main" id="{B4795A6F-D111-457E-90B4-3BE13050E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8096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defPPr>
            <a:lvl1pPr algn="l">
              <a:def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1pPr>
            <a:lvl2pPr algn="l">
              <a:def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2pPr>
            <a:lvl3pPr algn="l">
              <a:def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3pPr>
            <a:lvl4pPr algn="l">
              <a:def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4pPr>
            <a:lvl5pPr algn="l">
              <a:def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5pPr>
            <a:lvl6pPr algn="l">
              <a:def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6pPr>
            <a:lvl7pPr algn="l">
              <a:def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7pPr>
            <a:lvl8pPr algn="l">
              <a:def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8pPr>
            <a:lvl9pPr algn="l">
              <a:def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9pPr>
          </a:lstStyle>
          <a:p xmlns:a="http://schemas.openxmlformats.org/drawingml/2006/main">
            <a:pPr algn="l">
              <a:def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pPr>
            <a:r>
              <a: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rPr>
              <a:t>Private pages and public web research</a:t>
            </a:r>
          </a:p>
          <a:p xmlns:a="http://schemas.openxmlformats.org/drawingml/2006/main">
            <a:pPr algn="l">
              <a:def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pPr>
            <a:r>
              <a: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rPr>
              <a:t>have separate paths</a:t>
            </a:r>
          </a:p>
        </p:txBody>
      </p:sp>
      <p:sp>
        <p:nvSpPr>
          <p:cNvPr id="2" name="element-58">
            <a:extLst xmlns:a="http://schemas.openxmlformats.org/drawingml/2006/main">
              <a:ext uri="{FF2B5EF4-FFF2-40B4-BE49-F238E27FC236}">
                <a16:creationId xmlns:a16="http://schemas.microsoft.com/office/drawing/2014/main" id="{A635D442-C02F-448F-A298-5541BBCCA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238125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CF7"/>
          </a:solidFill>
          <a:ln xmlns:a="http://schemas.openxmlformats.org/drawingml/2006/main" w="9525">
            <a:solidFill>
              <a:srgbClr val="21281F"/>
            </a:solidFill>
            <a:prstDash val="solid"/>
          </a:ln>
        </p:spPr>
      </p:sp>
      <p:sp>
        <p:nvSpPr>
          <p:cNvPr id="3" name="element-59">
            <a:extLst xmlns:a="http://schemas.openxmlformats.org/drawingml/2006/main">
              <a:ext uri="{FF2B5EF4-FFF2-40B4-BE49-F238E27FC236}">
                <a16:creationId xmlns:a16="http://schemas.microsoft.com/office/drawing/2014/main" id="{ECDADCCD-DA38-4ABB-ACC5-6E41A2DD7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71625"/>
            <a:ext cx="2152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rPr>
              <a:t>Web app</a:t>
            </a:r>
          </a:p>
        </p:txBody>
      </p:sp>
      <p:sp>
        <p:nvSpPr>
          <p:cNvPr id="4" name="element-60">
            <a:extLst xmlns:a="http://schemas.openxmlformats.org/drawingml/2006/main">
              <a:ext uri="{FF2B5EF4-FFF2-40B4-BE49-F238E27FC236}">
                <a16:creationId xmlns:a16="http://schemas.microsoft.com/office/drawing/2014/main" id="{F88934BD-4733-4C18-A19A-73AC19D34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14525"/>
            <a:ext cx="2152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rPr>
              <a:t>Next.js and React.</a:t>
            </a:r>
          </a:p>
          <a:p xmlns:a="http://schemas.openxmlformats.org/drawingml/2006/main">
            <a: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rPr>
              <a:t>Page editor and life archive.</a:t>
            </a:r>
          </a:p>
        </p:txBody>
      </p:sp>
      <p:sp>
        <p:nvSpPr>
          <p:cNvPr id="5" name="element-61">
            <a:extLst xmlns:a="http://schemas.openxmlformats.org/drawingml/2006/main">
              <a:ext uri="{FF2B5EF4-FFF2-40B4-BE49-F238E27FC236}">
                <a16:creationId xmlns:a16="http://schemas.microsoft.com/office/drawing/2014/main" id="{17EDC7D2-B988-47E6-96A5-59CEE79C2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466850"/>
            <a:ext cx="238125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281F"/>
          </a:solidFill>
          <a:ln xmlns:a="http://schemas.openxmlformats.org/drawingml/2006/main" w="9525">
            <a:solidFill>
              <a:srgbClr val="21281F"/>
            </a:solidFill>
            <a:prstDash val="solid"/>
          </a:ln>
        </p:spPr>
      </p:sp>
      <p:sp>
        <p:nvSpPr>
          <p:cNvPr id="6" name="element-62">
            <a:extLst xmlns:a="http://schemas.openxmlformats.org/drawingml/2006/main">
              <a:ext uri="{FF2B5EF4-FFF2-40B4-BE49-F238E27FC236}">
                <a16:creationId xmlns:a16="http://schemas.microsoft.com/office/drawing/2014/main" id="{A7F0EAFB-C86F-4778-9DB8-01678BF78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571625"/>
            <a:ext cx="2152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1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1350" b="1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1350" b="1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1350" b="1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1350" b="1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1350" b="1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1350" b="1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1350" b="1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1350" b="1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1350" b="1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1350" b="1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350" b="1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rPr>
              <a:t>Authenticated server</a:t>
            </a:r>
          </a:p>
        </p:txBody>
      </p:sp>
      <p:sp>
        <p:nvSpPr>
          <p:cNvPr id="7" name="element-63">
            <a:extLst xmlns:a="http://schemas.openxmlformats.org/drawingml/2006/main">
              <a:ext uri="{FF2B5EF4-FFF2-40B4-BE49-F238E27FC236}">
                <a16:creationId xmlns:a16="http://schemas.microsoft.com/office/drawing/2014/main" id="{A36CEDD7-66D1-4F44-A391-03F07C729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914525"/>
            <a:ext cx="2152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rPr>
              <a:t>Account checks, consent</a:t>
            </a:r>
          </a:p>
          <a:p xmlns:a="http://schemas.openxmlformats.org/drawingml/2006/main">
            <a:pPr algn="l">
              <a:def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rPr>
              <a:t>and bounded research jobs.</a:t>
            </a:r>
          </a:p>
        </p:txBody>
      </p:sp>
      <p:sp>
        <p:nvSpPr>
          <p:cNvPr id="8" name="element-64">
            <a:extLst xmlns:a="http://schemas.openxmlformats.org/drawingml/2006/main">
              <a:ext uri="{FF2B5EF4-FFF2-40B4-BE49-F238E27FC236}">
                <a16:creationId xmlns:a16="http://schemas.microsoft.com/office/drawing/2014/main" id="{27F0A34B-671B-4018-B79E-9711DF805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466850"/>
            <a:ext cx="238125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422C"/>
          </a:solidFill>
          <a:ln xmlns:a="http://schemas.openxmlformats.org/drawingml/2006/main" w="9525">
            <a:solidFill>
              <a:srgbClr val="21281F"/>
            </a:solidFill>
            <a:prstDash val="solid"/>
          </a:ln>
        </p:spPr>
      </p:sp>
      <p:sp>
        <p:nvSpPr>
          <p:cNvPr id="9" name="element-65">
            <a:extLst xmlns:a="http://schemas.openxmlformats.org/drawingml/2006/main">
              <a:ext uri="{FF2B5EF4-FFF2-40B4-BE49-F238E27FC236}">
                <a16:creationId xmlns:a16="http://schemas.microsoft.com/office/drawing/2014/main" id="{21624169-0FE7-4D32-9B7E-7D4D83BEC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71625"/>
            <a:ext cx="2152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1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1350" b="1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1350" b="1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1350" b="1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1350" b="1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1350" b="1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1350" b="1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1350" b="1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1350" b="1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1350" b="1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1350" b="1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350" b="1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rPr>
              <a:t>TinyFish worker</a:t>
            </a:r>
          </a:p>
        </p:txBody>
      </p:sp>
      <p:sp>
        <p:nvSpPr>
          <p:cNvPr id="10" name="element-66">
            <a:extLst xmlns:a="http://schemas.openxmlformats.org/drawingml/2006/main">
              <a:ext uri="{FF2B5EF4-FFF2-40B4-BE49-F238E27FC236}">
                <a16:creationId xmlns:a16="http://schemas.microsoft.com/office/drawing/2014/main" id="{06714F8D-635B-4A58-911A-1A474032B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914525"/>
            <a:ext cx="2152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rPr>
              <a:t>Receives a public event URL</a:t>
            </a:r>
          </a:p>
          <a:p xmlns:a="http://schemas.openxmlformats.org/drawingml/2006/main">
            <a:pPr algn="l">
              <a:def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rPr>
              <a:t>and fixed extraction goal.</a:t>
            </a:r>
          </a:p>
        </p:txBody>
      </p:sp>
      <p:sp>
        <p:nvSpPr>
          <p:cNvPr id="11" name="element-67">
            <a:extLst xmlns:a="http://schemas.openxmlformats.org/drawingml/2006/main">
              <a:ext uri="{FF2B5EF4-FFF2-40B4-BE49-F238E27FC236}">
                <a16:creationId xmlns:a16="http://schemas.microsoft.com/office/drawing/2014/main" id="{4A6BCF33-82ED-4575-8151-132E07135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76550"/>
            <a:ext cx="238125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CF7"/>
          </a:solidFill>
          <a:ln xmlns:a="http://schemas.openxmlformats.org/drawingml/2006/main" w="9525">
            <a:solidFill>
              <a:srgbClr val="21281F"/>
            </a:solidFill>
            <a:prstDash val="solid"/>
          </a:ln>
        </p:spPr>
      </p:sp>
      <p:sp>
        <p:nvSpPr>
          <p:cNvPr id="12" name="element-68">
            <a:extLst xmlns:a="http://schemas.openxmlformats.org/drawingml/2006/main">
              <a:ext uri="{FF2B5EF4-FFF2-40B4-BE49-F238E27FC236}">
                <a16:creationId xmlns:a16="http://schemas.microsoft.com/office/drawing/2014/main" id="{1B4203A5-BD8B-448B-83A2-D5411174D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81325"/>
            <a:ext cx="2152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rPr>
              <a:t>Optional AI adapter</a:t>
            </a:r>
          </a:p>
        </p:txBody>
      </p:sp>
      <p:sp>
        <p:nvSpPr>
          <p:cNvPr id="13" name="element-69">
            <a:extLst xmlns:a="http://schemas.openxmlformats.org/drawingml/2006/main">
              <a:ext uri="{FF2B5EF4-FFF2-40B4-BE49-F238E27FC236}">
                <a16:creationId xmlns:a16="http://schemas.microsoft.com/office/drawing/2014/main" id="{42CC788E-E370-4126-9E0E-A1A5E2DD4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24225"/>
            <a:ext cx="2152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rPr>
              <a:t>Uses permitted saved text</a:t>
            </a:r>
          </a:p>
          <a:p xmlns:a="http://schemas.openxmlformats.org/drawingml/2006/main">
            <a: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rPr>
              <a:t>and returns source references.</a:t>
            </a:r>
          </a:p>
        </p:txBody>
      </p:sp>
      <p:sp>
        <p:nvSpPr>
          <p:cNvPr id="14" name="element-70">
            <a:extLst xmlns:a="http://schemas.openxmlformats.org/drawingml/2006/main">
              <a:ext uri="{FF2B5EF4-FFF2-40B4-BE49-F238E27FC236}">
                <a16:creationId xmlns:a16="http://schemas.microsoft.com/office/drawing/2014/main" id="{56E2277C-E405-4E15-AB6B-BBE63CC17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876550"/>
            <a:ext cx="238125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CF7"/>
          </a:solidFill>
          <a:ln xmlns:a="http://schemas.openxmlformats.org/drawingml/2006/main" w="9525">
            <a:solidFill>
              <a:srgbClr val="21281F"/>
            </a:solidFill>
            <a:prstDash val="solid"/>
          </a:ln>
        </p:spPr>
      </p:sp>
      <p:sp>
        <p:nvSpPr>
          <p:cNvPr id="15" name="element-71">
            <a:extLst xmlns:a="http://schemas.openxmlformats.org/drawingml/2006/main">
              <a:ext uri="{FF2B5EF4-FFF2-40B4-BE49-F238E27FC236}">
                <a16:creationId xmlns:a16="http://schemas.microsoft.com/office/drawing/2014/main" id="{F78D7257-A9F3-4120-A75E-8EE8C364D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981325"/>
            <a:ext cx="2152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rPr>
              <a:t>Private archive</a:t>
            </a:r>
          </a:p>
        </p:txBody>
      </p:sp>
      <p:sp>
        <p:nvSpPr>
          <p:cNvPr id="16" name="element-72">
            <a:extLst xmlns:a="http://schemas.openxmlformats.org/drawingml/2006/main">
              <a:ext uri="{FF2B5EF4-FFF2-40B4-BE49-F238E27FC236}">
                <a16:creationId xmlns:a16="http://schemas.microsoft.com/office/drawing/2014/main" id="{AA8EE365-1411-49DD-8AA5-11B5FE4EE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324225"/>
            <a:ext cx="2152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rPr>
              <a:t>Postgres records and</a:t>
            </a:r>
          </a:p>
          <a:p xmlns:a="http://schemas.openxmlformats.org/drawingml/2006/main">
            <a: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rPr>
              <a:t>private media storage.</a:t>
            </a:r>
          </a:p>
        </p:txBody>
      </p:sp>
      <p:sp>
        <p:nvSpPr>
          <p:cNvPr id="17" name="element-73">
            <a:extLst xmlns:a="http://schemas.openxmlformats.org/drawingml/2006/main">
              <a:ext uri="{FF2B5EF4-FFF2-40B4-BE49-F238E27FC236}">
                <a16:creationId xmlns:a16="http://schemas.microsoft.com/office/drawing/2014/main" id="{EA3DB8FC-ECD9-46F4-BF91-0C8EB1E1B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76550"/>
            <a:ext cx="238125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CF7"/>
          </a:solidFill>
          <a:ln xmlns:a="http://schemas.openxmlformats.org/drawingml/2006/main" w="9525">
            <a:solidFill>
              <a:srgbClr val="21281F"/>
            </a:solidFill>
            <a:prstDash val="solid"/>
          </a:ln>
        </p:spPr>
      </p:sp>
      <p:sp>
        <p:nvSpPr>
          <p:cNvPr id="18" name="element-74">
            <a:extLst xmlns:a="http://schemas.openxmlformats.org/drawingml/2006/main">
              <a:ext uri="{FF2B5EF4-FFF2-40B4-BE49-F238E27FC236}">
                <a16:creationId xmlns:a16="http://schemas.microsoft.com/office/drawing/2014/main" id="{47D14BB5-6CBF-4D82-B277-E577E7E41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981325"/>
            <a:ext cx="2152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350" b="1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rPr>
              <a:t>Review before saving</a:t>
            </a:r>
          </a:p>
        </p:txBody>
      </p:sp>
      <p:sp>
        <p:nvSpPr>
          <p:cNvPr id="19" name="element-75">
            <a:extLst xmlns:a="http://schemas.openxmlformats.org/drawingml/2006/main">
              <a:ext uri="{FF2B5EF4-FFF2-40B4-BE49-F238E27FC236}">
                <a16:creationId xmlns:a16="http://schemas.microsoft.com/office/drawing/2014/main" id="{EE18E2AD-D8D3-4618-B738-8EC56D213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324225"/>
            <a:ext cx="2152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rPr>
              <a:t>You select facts and open</a:t>
            </a:r>
          </a:p>
          <a:p xmlns:a="http://schemas.openxmlformats.org/drawingml/2006/main">
            <a: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rPr>
              <a:t>an editable page draft.</a:t>
            </a:r>
          </a:p>
        </p:txBody>
      </p:sp>
      <p:sp>
        <p:nvSpPr>
          <p:cNvPr id="20" name="element-76">
            <a:extLst xmlns:a="http://schemas.openxmlformats.org/drawingml/2006/main">
              <a:ext uri="{FF2B5EF4-FFF2-40B4-BE49-F238E27FC236}">
                <a16:creationId xmlns:a16="http://schemas.microsoft.com/office/drawing/2014/main" id="{7BFF1873-D906-4753-AF79-F6236730D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819275"/>
            <a:ext cx="3619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D42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element-77">
            <a:extLst xmlns:a="http://schemas.openxmlformats.org/drawingml/2006/main">
              <a:ext uri="{FF2B5EF4-FFF2-40B4-BE49-F238E27FC236}">
                <a16:creationId xmlns:a16="http://schemas.microsoft.com/office/drawing/2014/main" id="{9F88FB8A-4EF8-4A6B-82B0-68B26A239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1819275"/>
            <a:ext cx="3619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D42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element-78">
            <a:extLst xmlns:a="http://schemas.openxmlformats.org/drawingml/2006/main">
              <a:ext uri="{FF2B5EF4-FFF2-40B4-BE49-F238E27FC236}">
                <a16:creationId xmlns:a16="http://schemas.microsoft.com/office/drawing/2014/main" id="{1FF71538-F96D-466D-AB4C-54095AFB5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2933700" y="3228975"/>
            <a:ext cx="3619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D42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element-79">
            <a:extLst xmlns:a="http://schemas.openxmlformats.org/drawingml/2006/main">
              <a:ext uri="{FF2B5EF4-FFF2-40B4-BE49-F238E27FC236}">
                <a16:creationId xmlns:a16="http://schemas.microsoft.com/office/drawing/2014/main" id="{4C39652E-0E1D-474E-B96A-EAC3B98B0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5791200" y="3228975"/>
            <a:ext cx="3619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D42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element-80">
            <a:extLst xmlns:a="http://schemas.openxmlformats.org/drawingml/2006/main">
              <a:ext uri="{FF2B5EF4-FFF2-40B4-BE49-F238E27FC236}">
                <a16:creationId xmlns:a16="http://schemas.microsoft.com/office/drawing/2014/main" id="{D77E8302-AA8C-4D3E-97CE-A44425CD2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524125"/>
            <a:ext cx="171450" cy="2667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BD42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element-81">
            <a:extLst xmlns:a="http://schemas.openxmlformats.org/drawingml/2006/main">
              <a:ext uri="{FF2B5EF4-FFF2-40B4-BE49-F238E27FC236}">
                <a16:creationId xmlns:a16="http://schemas.microsoft.com/office/drawing/2014/main" id="{4DD85197-92EF-4D66-B4CE-440993A2B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19575"/>
            <a:ext cx="80486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rPr>
              <a:t>Technical approach: async TinyFish jobs, signed account tokens, explicit fact selection and private account storage.</a:t>
            </a:r>
          </a:p>
        </p:txBody>
      </p:sp>
      <p:sp>
        <p:nvSpPr>
          <p:cNvPr id="26" name="element-82">
            <a:extLst xmlns:a="http://schemas.openxmlformats.org/drawingml/2006/main">
              <a:ext uri="{FF2B5EF4-FFF2-40B4-BE49-F238E27FC236}">
                <a16:creationId xmlns:a16="http://schemas.microsoft.com/office/drawing/2014/main" id="{5560FD55-2BEA-4F9B-9BE4-FABA9B915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67250"/>
            <a:ext cx="7572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97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97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97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97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97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97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97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97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97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97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97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rPr>
              <a:t>Current AI retrieval uses bounded keyword matching. Semantic memory threads and native mobile apps remain future work.</a:t>
            </a:r>
          </a:p>
        </p:txBody>
      </p:sp>
      <p:sp>
        <p:nvSpPr>
          <p:cNvPr id="27" name="element-83">
            <a:extLst xmlns:a="http://schemas.openxmlformats.org/drawingml/2006/main">
              <a:ext uri="{FF2B5EF4-FFF2-40B4-BE49-F238E27FC236}">
                <a16:creationId xmlns:a16="http://schemas.microsoft.com/office/drawing/2014/main" id="{8D5E53C6-E85A-4D12-8458-F1803FCBB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857750"/>
            <a:ext cx="381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defPPr>
            <a:lvl1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1pPr>
            <a:lvl2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2pPr>
            <a:lvl3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3pPr>
            <a:lvl4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4pPr>
            <a:lvl5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5pPr>
            <a:lvl6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6pPr>
            <a:lvl7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7pPr>
            <a:lvl8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8pPr>
            <a:lvl9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rPr>
              <a:t>5 / 8</a:t>
            </a:r>
          </a:p>
        </p:txBody>
      </p:sp>
    </p:spTree>
    <p:extLst>
      <p:ext uri="{BB962C8B-B14F-4D97-AF65-F5344CB8AC3E}">
        <p14:creationId xmlns:p14="http://schemas.microsoft.com/office/powerpoint/2010/main" val="189741894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2128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element-84">
            <a:extLst xmlns:a="http://schemas.openxmlformats.org/drawingml/2006/main">
              <a:ext uri="{FF2B5EF4-FFF2-40B4-BE49-F238E27FC236}">
                <a16:creationId xmlns:a16="http://schemas.microsoft.com/office/drawing/2014/main" id="{8EA1C601-9577-47E2-8D02-4AFEABC07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8096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 i="0">
                <a:solidFill>
                  <a:srgbClr val="F6EFE6"/>
                </a:solidFill>
                <a:latin typeface="TeX Gyre Schola"/>
                <a:ea typeface="TeX Gyre Schola"/>
                <a:cs typeface="TeX Gyre Schola"/>
              </a:defRPr>
            </a:defPPr>
            <a:lvl1pPr algn="l">
              <a:defRPr sz="2550" b="1" i="0">
                <a:solidFill>
                  <a:srgbClr val="F6EFE6"/>
                </a:solidFill>
                <a:latin typeface="TeX Gyre Schola"/>
                <a:ea typeface="TeX Gyre Schola"/>
                <a:cs typeface="TeX Gyre Schola"/>
              </a:defRPr>
            </a:lvl1pPr>
            <a:lvl2pPr algn="l">
              <a:defRPr sz="2550" b="1" i="0">
                <a:solidFill>
                  <a:srgbClr val="F6EFE6"/>
                </a:solidFill>
                <a:latin typeface="TeX Gyre Schola"/>
                <a:ea typeface="TeX Gyre Schola"/>
                <a:cs typeface="TeX Gyre Schola"/>
              </a:defRPr>
            </a:lvl2pPr>
            <a:lvl3pPr algn="l">
              <a:defRPr sz="2550" b="1" i="0">
                <a:solidFill>
                  <a:srgbClr val="F6EFE6"/>
                </a:solidFill>
                <a:latin typeface="TeX Gyre Schola"/>
                <a:ea typeface="TeX Gyre Schola"/>
                <a:cs typeface="TeX Gyre Schola"/>
              </a:defRPr>
            </a:lvl3pPr>
            <a:lvl4pPr algn="l">
              <a:defRPr sz="2550" b="1" i="0">
                <a:solidFill>
                  <a:srgbClr val="F6EFE6"/>
                </a:solidFill>
                <a:latin typeface="TeX Gyre Schola"/>
                <a:ea typeface="TeX Gyre Schola"/>
                <a:cs typeface="TeX Gyre Schola"/>
              </a:defRPr>
            </a:lvl4pPr>
            <a:lvl5pPr algn="l">
              <a:defRPr sz="2550" b="1" i="0">
                <a:solidFill>
                  <a:srgbClr val="F6EFE6"/>
                </a:solidFill>
                <a:latin typeface="TeX Gyre Schola"/>
                <a:ea typeface="TeX Gyre Schola"/>
                <a:cs typeface="TeX Gyre Schola"/>
              </a:defRPr>
            </a:lvl5pPr>
            <a:lvl6pPr algn="l">
              <a:defRPr sz="2550" b="1" i="0">
                <a:solidFill>
                  <a:srgbClr val="F6EFE6"/>
                </a:solidFill>
                <a:latin typeface="TeX Gyre Schola"/>
                <a:ea typeface="TeX Gyre Schola"/>
                <a:cs typeface="TeX Gyre Schola"/>
              </a:defRPr>
            </a:lvl6pPr>
            <a:lvl7pPr algn="l">
              <a:defRPr sz="2550" b="1" i="0">
                <a:solidFill>
                  <a:srgbClr val="F6EFE6"/>
                </a:solidFill>
                <a:latin typeface="TeX Gyre Schola"/>
                <a:ea typeface="TeX Gyre Schola"/>
                <a:cs typeface="TeX Gyre Schola"/>
              </a:defRPr>
            </a:lvl7pPr>
            <a:lvl8pPr algn="l">
              <a:defRPr sz="2550" b="1" i="0">
                <a:solidFill>
                  <a:srgbClr val="F6EFE6"/>
                </a:solidFill>
                <a:latin typeface="TeX Gyre Schola"/>
                <a:ea typeface="TeX Gyre Schola"/>
                <a:cs typeface="TeX Gyre Schola"/>
              </a:defRPr>
            </a:lvl8pPr>
            <a:lvl9pPr algn="l">
              <a:defRPr sz="2550" b="1" i="0">
                <a:solidFill>
                  <a:srgbClr val="F6EFE6"/>
                </a:solidFill>
                <a:latin typeface="TeX Gyre Schola"/>
                <a:ea typeface="TeX Gyre Schola"/>
                <a:cs typeface="TeX Gyre Schola"/>
              </a:defRPr>
            </a:lvl9pPr>
          </a:lstStyle>
          <a:p xmlns:a="http://schemas.openxmlformats.org/drawingml/2006/main">
            <a:pPr algn="l">
              <a:defRPr sz="2550" b="1" i="0">
                <a:solidFill>
                  <a:srgbClr val="F6EFE6"/>
                </a:solidFill>
                <a:latin typeface="TeX Gyre Schola"/>
                <a:ea typeface="TeX Gyre Schola"/>
                <a:cs typeface="TeX Gyre Schola"/>
              </a:defRPr>
            </a:pPr>
            <a:r>
              <a:rPr sz="2550" b="1" i="0">
                <a:solidFill>
                  <a:srgbClr val="F6EFE6"/>
                </a:solidFill>
                <a:latin typeface="TeX Gyre Schola"/>
                <a:ea typeface="TeX Gyre Schola"/>
                <a:cs typeface="TeX Gyre Schola"/>
              </a:rPr>
              <a:t>What a ₹149 subscription has to cover</a:t>
            </a:r>
          </a:p>
        </p:txBody>
      </p:sp>
      <p:sp>
        <p:nvSpPr>
          <p:cNvPr id="2" name="element-85">
            <a:extLst xmlns:a="http://schemas.openxmlformats.org/drawingml/2006/main">
              <a:ext uri="{FF2B5EF4-FFF2-40B4-BE49-F238E27FC236}">
                <a16:creationId xmlns:a16="http://schemas.microsoft.com/office/drawing/2014/main" id="{852FB033-1789-4C7E-917B-FB7897EDC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43000"/>
            <a:ext cx="2571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 i="0">
                <a:solidFill>
                  <a:srgbClr val="E8B083"/>
                </a:solidFill>
                <a:latin typeface="TeX Gyre Schola"/>
                <a:ea typeface="TeX Gyre Schola"/>
                <a:cs typeface="TeX Gyre Schola"/>
              </a:defRPr>
            </a:defPPr>
            <a:lvl1pPr algn="l">
              <a:defRPr sz="3450" b="1" i="0">
                <a:solidFill>
                  <a:srgbClr val="E8B083"/>
                </a:solidFill>
                <a:latin typeface="TeX Gyre Schola"/>
                <a:ea typeface="TeX Gyre Schola"/>
                <a:cs typeface="TeX Gyre Schola"/>
              </a:defRPr>
            </a:lvl1pPr>
            <a:lvl2pPr algn="l">
              <a:defRPr sz="3450" b="1" i="0">
                <a:solidFill>
                  <a:srgbClr val="E8B083"/>
                </a:solidFill>
                <a:latin typeface="TeX Gyre Schola"/>
                <a:ea typeface="TeX Gyre Schola"/>
                <a:cs typeface="TeX Gyre Schola"/>
              </a:defRPr>
            </a:lvl2pPr>
            <a:lvl3pPr algn="l">
              <a:defRPr sz="3450" b="1" i="0">
                <a:solidFill>
                  <a:srgbClr val="E8B083"/>
                </a:solidFill>
                <a:latin typeface="TeX Gyre Schola"/>
                <a:ea typeface="TeX Gyre Schola"/>
                <a:cs typeface="TeX Gyre Schola"/>
              </a:defRPr>
            </a:lvl3pPr>
            <a:lvl4pPr algn="l">
              <a:defRPr sz="3450" b="1" i="0">
                <a:solidFill>
                  <a:srgbClr val="E8B083"/>
                </a:solidFill>
                <a:latin typeface="TeX Gyre Schola"/>
                <a:ea typeface="TeX Gyre Schola"/>
                <a:cs typeface="TeX Gyre Schola"/>
              </a:defRPr>
            </a:lvl4pPr>
            <a:lvl5pPr algn="l">
              <a:defRPr sz="3450" b="1" i="0">
                <a:solidFill>
                  <a:srgbClr val="E8B083"/>
                </a:solidFill>
                <a:latin typeface="TeX Gyre Schola"/>
                <a:ea typeface="TeX Gyre Schola"/>
                <a:cs typeface="TeX Gyre Schola"/>
              </a:defRPr>
            </a:lvl5pPr>
            <a:lvl6pPr algn="l">
              <a:defRPr sz="3450" b="1" i="0">
                <a:solidFill>
                  <a:srgbClr val="E8B083"/>
                </a:solidFill>
                <a:latin typeface="TeX Gyre Schola"/>
                <a:ea typeface="TeX Gyre Schola"/>
                <a:cs typeface="TeX Gyre Schola"/>
              </a:defRPr>
            </a:lvl6pPr>
            <a:lvl7pPr algn="l">
              <a:defRPr sz="3450" b="1" i="0">
                <a:solidFill>
                  <a:srgbClr val="E8B083"/>
                </a:solidFill>
                <a:latin typeface="TeX Gyre Schola"/>
                <a:ea typeface="TeX Gyre Schola"/>
                <a:cs typeface="TeX Gyre Schola"/>
              </a:defRPr>
            </a:lvl7pPr>
            <a:lvl8pPr algn="l">
              <a:defRPr sz="3450" b="1" i="0">
                <a:solidFill>
                  <a:srgbClr val="E8B083"/>
                </a:solidFill>
                <a:latin typeface="TeX Gyre Schola"/>
                <a:ea typeface="TeX Gyre Schola"/>
                <a:cs typeface="TeX Gyre Schola"/>
              </a:defRPr>
            </a:lvl8pPr>
            <a:lvl9pPr algn="l">
              <a:defRPr sz="3450" b="1" i="0">
                <a:solidFill>
                  <a:srgbClr val="E8B083"/>
                </a:solidFill>
                <a:latin typeface="TeX Gyre Schola"/>
                <a:ea typeface="TeX Gyre Schola"/>
                <a:cs typeface="TeX Gyre Schola"/>
              </a:defRPr>
            </a:lvl9pPr>
          </a:lstStyle>
          <a:p xmlns:a="http://schemas.openxmlformats.org/drawingml/2006/main">
            <a:pPr algn="l">
              <a:defRPr sz="3450" b="1" i="0">
                <a:solidFill>
                  <a:srgbClr val="E8B083"/>
                </a:solidFill>
                <a:latin typeface="TeX Gyre Schola"/>
                <a:ea typeface="TeX Gyre Schola"/>
                <a:cs typeface="TeX Gyre Schola"/>
              </a:defRPr>
            </a:pPr>
            <a:r>
              <a:rPr sz="3450" b="1" i="0">
                <a:solidFill>
                  <a:srgbClr val="E8B083"/>
                </a:solidFill>
                <a:latin typeface="TeX Gyre Schola"/>
                <a:ea typeface="TeX Gyre Schola"/>
                <a:cs typeface="TeX Gyre Schola"/>
              </a:rPr>
              <a:t>₹149</a:t>
            </a:r>
          </a:p>
        </p:txBody>
      </p:sp>
      <p:sp>
        <p:nvSpPr>
          <p:cNvPr id="3" name="element-86">
            <a:extLst xmlns:a="http://schemas.openxmlformats.org/drawingml/2006/main">
              <a:ext uri="{FF2B5EF4-FFF2-40B4-BE49-F238E27FC236}">
                <a16:creationId xmlns:a16="http://schemas.microsoft.com/office/drawing/2014/main" id="{97606ACD-0768-4881-9B56-8B1843002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62125"/>
            <a:ext cx="2571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rPr>
              <a:t>proposed monthly price</a:t>
            </a:r>
          </a:p>
        </p:txBody>
      </p:sp>
      <p:sp>
        <p:nvSpPr>
          <p:cNvPr id="4" name="element-87">
            <a:extLst xmlns:a="http://schemas.openxmlformats.org/drawingml/2006/main">
              <a:ext uri="{FF2B5EF4-FFF2-40B4-BE49-F238E27FC236}">
                <a16:creationId xmlns:a16="http://schemas.microsoft.com/office/drawing/2014/main" id="{37436BB6-C91F-4C63-AE2F-015CDCE6D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1143000"/>
            <a:ext cx="2571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 i="0">
                <a:solidFill>
                  <a:srgbClr val="F6EFE6"/>
                </a:solidFill>
                <a:latin typeface="TeX Gyre Schola"/>
                <a:ea typeface="TeX Gyre Schola"/>
                <a:cs typeface="TeX Gyre Schola"/>
              </a:defRPr>
            </a:defPPr>
            <a:lvl1pPr algn="l">
              <a:defRPr sz="3450" b="1" i="0">
                <a:solidFill>
                  <a:srgbClr val="F6EFE6"/>
                </a:solidFill>
                <a:latin typeface="TeX Gyre Schola"/>
                <a:ea typeface="TeX Gyre Schola"/>
                <a:cs typeface="TeX Gyre Schola"/>
              </a:defRPr>
            </a:lvl1pPr>
            <a:lvl2pPr algn="l">
              <a:defRPr sz="3450" b="1" i="0">
                <a:solidFill>
                  <a:srgbClr val="F6EFE6"/>
                </a:solidFill>
                <a:latin typeface="TeX Gyre Schola"/>
                <a:ea typeface="TeX Gyre Schola"/>
                <a:cs typeface="TeX Gyre Schola"/>
              </a:defRPr>
            </a:lvl2pPr>
            <a:lvl3pPr algn="l">
              <a:defRPr sz="3450" b="1" i="0">
                <a:solidFill>
                  <a:srgbClr val="F6EFE6"/>
                </a:solidFill>
                <a:latin typeface="TeX Gyre Schola"/>
                <a:ea typeface="TeX Gyre Schola"/>
                <a:cs typeface="TeX Gyre Schola"/>
              </a:defRPr>
            </a:lvl3pPr>
            <a:lvl4pPr algn="l">
              <a:defRPr sz="3450" b="1" i="0">
                <a:solidFill>
                  <a:srgbClr val="F6EFE6"/>
                </a:solidFill>
                <a:latin typeface="TeX Gyre Schola"/>
                <a:ea typeface="TeX Gyre Schola"/>
                <a:cs typeface="TeX Gyre Schola"/>
              </a:defRPr>
            </a:lvl4pPr>
            <a:lvl5pPr algn="l">
              <a:defRPr sz="3450" b="1" i="0">
                <a:solidFill>
                  <a:srgbClr val="F6EFE6"/>
                </a:solidFill>
                <a:latin typeface="TeX Gyre Schola"/>
                <a:ea typeface="TeX Gyre Schola"/>
                <a:cs typeface="TeX Gyre Schola"/>
              </a:defRPr>
            </a:lvl5pPr>
            <a:lvl6pPr algn="l">
              <a:defRPr sz="3450" b="1" i="0">
                <a:solidFill>
                  <a:srgbClr val="F6EFE6"/>
                </a:solidFill>
                <a:latin typeface="TeX Gyre Schola"/>
                <a:ea typeface="TeX Gyre Schola"/>
                <a:cs typeface="TeX Gyre Schola"/>
              </a:defRPr>
            </a:lvl6pPr>
            <a:lvl7pPr algn="l">
              <a:defRPr sz="3450" b="1" i="0">
                <a:solidFill>
                  <a:srgbClr val="F6EFE6"/>
                </a:solidFill>
                <a:latin typeface="TeX Gyre Schola"/>
                <a:ea typeface="TeX Gyre Schola"/>
                <a:cs typeface="TeX Gyre Schola"/>
              </a:defRPr>
            </a:lvl7pPr>
            <a:lvl8pPr algn="l">
              <a:defRPr sz="3450" b="1" i="0">
                <a:solidFill>
                  <a:srgbClr val="F6EFE6"/>
                </a:solidFill>
                <a:latin typeface="TeX Gyre Schola"/>
                <a:ea typeface="TeX Gyre Schola"/>
                <a:cs typeface="TeX Gyre Schola"/>
              </a:defRPr>
            </a:lvl8pPr>
            <a:lvl9pPr algn="l">
              <a:defRPr sz="3450" b="1" i="0">
                <a:solidFill>
                  <a:srgbClr val="F6EFE6"/>
                </a:solidFill>
                <a:latin typeface="TeX Gyre Schola"/>
                <a:ea typeface="TeX Gyre Schola"/>
                <a:cs typeface="TeX Gyre Schola"/>
              </a:defRPr>
            </a:lvl9pPr>
          </a:lstStyle>
          <a:p xmlns:a="http://schemas.openxmlformats.org/drawingml/2006/main">
            <a:pPr algn="l">
              <a:defRPr sz="3450" b="1" i="0">
                <a:solidFill>
                  <a:srgbClr val="F6EFE6"/>
                </a:solidFill>
                <a:latin typeface="TeX Gyre Schola"/>
                <a:ea typeface="TeX Gyre Schola"/>
                <a:cs typeface="TeX Gyre Schola"/>
              </a:defRPr>
            </a:pPr>
            <a:r>
              <a:rPr sz="3450" b="1" i="0">
                <a:solidFill>
                  <a:srgbClr val="F6EFE6"/>
                </a:solidFill>
                <a:latin typeface="TeX Gyre Schola"/>
                <a:ea typeface="TeX Gyre Schola"/>
                <a:cs typeface="TeX Gyre Schola"/>
              </a:rPr>
              <a:t>₹27</a:t>
            </a:r>
          </a:p>
        </p:txBody>
      </p:sp>
      <p:sp>
        <p:nvSpPr>
          <p:cNvPr id="5" name="element-88">
            <a:extLst xmlns:a="http://schemas.openxmlformats.org/drawingml/2006/main">
              <a:ext uri="{FF2B5EF4-FFF2-40B4-BE49-F238E27FC236}">
                <a16:creationId xmlns:a16="http://schemas.microsoft.com/office/drawing/2014/main" id="{D5F97209-93D0-4811-8B04-E44F6F685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1762125"/>
            <a:ext cx="2571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rPr>
              <a:t>typical variable cost</a:t>
            </a:r>
          </a:p>
        </p:txBody>
      </p:sp>
      <p:sp>
        <p:nvSpPr>
          <p:cNvPr id="6" name="element-89">
            <a:extLst xmlns:a="http://schemas.openxmlformats.org/drawingml/2006/main">
              <a:ext uri="{FF2B5EF4-FFF2-40B4-BE49-F238E27FC236}">
                <a16:creationId xmlns:a16="http://schemas.microsoft.com/office/drawing/2014/main" id="{42B030A8-C368-49AA-A44C-72E59D732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143000"/>
            <a:ext cx="2571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 i="0">
                <a:solidFill>
                  <a:srgbClr val="F6EFE6"/>
                </a:solidFill>
                <a:latin typeface="TeX Gyre Schola"/>
                <a:ea typeface="TeX Gyre Schola"/>
                <a:cs typeface="TeX Gyre Schola"/>
              </a:defRPr>
            </a:defPPr>
            <a:lvl1pPr algn="l">
              <a:defRPr sz="3450" b="1" i="0">
                <a:solidFill>
                  <a:srgbClr val="F6EFE6"/>
                </a:solidFill>
                <a:latin typeface="TeX Gyre Schola"/>
                <a:ea typeface="TeX Gyre Schola"/>
                <a:cs typeface="TeX Gyre Schola"/>
              </a:defRPr>
            </a:lvl1pPr>
            <a:lvl2pPr algn="l">
              <a:defRPr sz="3450" b="1" i="0">
                <a:solidFill>
                  <a:srgbClr val="F6EFE6"/>
                </a:solidFill>
                <a:latin typeface="TeX Gyre Schola"/>
                <a:ea typeface="TeX Gyre Schola"/>
                <a:cs typeface="TeX Gyre Schola"/>
              </a:defRPr>
            </a:lvl2pPr>
            <a:lvl3pPr algn="l">
              <a:defRPr sz="3450" b="1" i="0">
                <a:solidFill>
                  <a:srgbClr val="F6EFE6"/>
                </a:solidFill>
                <a:latin typeface="TeX Gyre Schola"/>
                <a:ea typeface="TeX Gyre Schola"/>
                <a:cs typeface="TeX Gyre Schola"/>
              </a:defRPr>
            </a:lvl3pPr>
            <a:lvl4pPr algn="l">
              <a:defRPr sz="3450" b="1" i="0">
                <a:solidFill>
                  <a:srgbClr val="F6EFE6"/>
                </a:solidFill>
                <a:latin typeface="TeX Gyre Schola"/>
                <a:ea typeface="TeX Gyre Schola"/>
                <a:cs typeface="TeX Gyre Schola"/>
              </a:defRPr>
            </a:lvl4pPr>
            <a:lvl5pPr algn="l">
              <a:defRPr sz="3450" b="1" i="0">
                <a:solidFill>
                  <a:srgbClr val="F6EFE6"/>
                </a:solidFill>
                <a:latin typeface="TeX Gyre Schola"/>
                <a:ea typeface="TeX Gyre Schola"/>
                <a:cs typeface="TeX Gyre Schola"/>
              </a:defRPr>
            </a:lvl5pPr>
            <a:lvl6pPr algn="l">
              <a:defRPr sz="3450" b="1" i="0">
                <a:solidFill>
                  <a:srgbClr val="F6EFE6"/>
                </a:solidFill>
                <a:latin typeface="TeX Gyre Schola"/>
                <a:ea typeface="TeX Gyre Schola"/>
                <a:cs typeface="TeX Gyre Schola"/>
              </a:defRPr>
            </a:lvl6pPr>
            <a:lvl7pPr algn="l">
              <a:defRPr sz="3450" b="1" i="0">
                <a:solidFill>
                  <a:srgbClr val="F6EFE6"/>
                </a:solidFill>
                <a:latin typeface="TeX Gyre Schola"/>
                <a:ea typeface="TeX Gyre Schola"/>
                <a:cs typeface="TeX Gyre Schola"/>
              </a:defRPr>
            </a:lvl7pPr>
            <a:lvl8pPr algn="l">
              <a:defRPr sz="3450" b="1" i="0">
                <a:solidFill>
                  <a:srgbClr val="F6EFE6"/>
                </a:solidFill>
                <a:latin typeface="TeX Gyre Schola"/>
                <a:ea typeface="TeX Gyre Schola"/>
                <a:cs typeface="TeX Gyre Schola"/>
              </a:defRPr>
            </a:lvl8pPr>
            <a:lvl9pPr algn="l">
              <a:defRPr sz="3450" b="1" i="0">
                <a:solidFill>
                  <a:srgbClr val="F6EFE6"/>
                </a:solidFill>
                <a:latin typeface="TeX Gyre Schola"/>
                <a:ea typeface="TeX Gyre Schola"/>
                <a:cs typeface="TeX Gyre Schola"/>
              </a:defRPr>
            </a:lvl9pPr>
          </a:lstStyle>
          <a:p xmlns:a="http://schemas.openxmlformats.org/drawingml/2006/main">
            <a:pPr algn="l">
              <a:defRPr sz="3450" b="1" i="0">
                <a:solidFill>
                  <a:srgbClr val="F6EFE6"/>
                </a:solidFill>
                <a:latin typeface="TeX Gyre Schola"/>
                <a:ea typeface="TeX Gyre Schola"/>
                <a:cs typeface="TeX Gyre Schola"/>
              </a:defRPr>
            </a:pPr>
            <a:r>
              <a:rPr sz="3450" b="1" i="0">
                <a:solidFill>
                  <a:srgbClr val="F6EFE6"/>
                </a:solidFill>
                <a:latin typeface="TeX Gyre Schola"/>
                <a:ea typeface="TeX Gyre Schola"/>
                <a:cs typeface="TeX Gyre Schola"/>
              </a:rPr>
              <a:t>₹96</a:t>
            </a:r>
          </a:p>
        </p:txBody>
      </p:sp>
      <p:sp>
        <p:nvSpPr>
          <p:cNvPr id="7" name="element-90">
            <a:extLst xmlns:a="http://schemas.openxmlformats.org/drawingml/2006/main">
              <a:ext uri="{FF2B5EF4-FFF2-40B4-BE49-F238E27FC236}">
                <a16:creationId xmlns:a16="http://schemas.microsoft.com/office/drawing/2014/main" id="{B33ADE43-350C-4E77-94B9-AAE995B83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762125"/>
            <a:ext cx="2571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rPr>
              <a:t>contribution before free users</a:t>
            </a:r>
          </a:p>
          <a:p xmlns:a="http://schemas.openxmlformats.org/drawingml/2006/main">
            <a:pPr algn="l">
              <a:def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200" b="0" i="0">
                <a:solidFill>
                  <a:srgbClr val="F6EFE6"/>
                </a:solidFill>
                <a:latin typeface="TeX Gyre Adventor"/>
                <a:ea typeface="TeX Gyre Adventor"/>
                <a:cs typeface="TeX Gyre Adventor"/>
              </a:rPr>
              <a:t>and shared fixed costs</a:t>
            </a:r>
          </a:p>
        </p:txBody>
      </p:sp>
      <p:graphicFrame>
        <p:nvGraphicFrame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73013E-5FB6-4D8E-9B4E-31D3D7ACCADA}"/>
              </a:ext>
            </a:extLst>
          </p:cNvPr>
          <p:cNvGraphicFramePr/>
          <p:nvPr/>
        </p:nvGraphicFramePr>
        <p:xfrm>
          <a:off xmlns:a="http://schemas.openxmlformats.org/drawingml/2006/main" x="514350" y="2390775"/>
          <a:ext xmlns:a="http://schemas.openxmlformats.org/drawingml/2006/main" cx="8115300" cy="18288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457700"/>
                <a:gridCol w="1828800"/>
                <a:gridCol w="1828800"/>
              </a:tblGrid>
              <a:tr h="304800">
                <a:tc>
                  <a:txBody>
                    <a:bodyPr lIns="76200" tIns="76200" rIns="76200" bIns="76200"/>
                    <a:lstStyle/>
                    <a:p>
                      <a:pPr algn="l"/>
                      <a:r>
                        <a:rPr sz="1050" b="1">
                          <a:solidFill>
                            <a:srgbClr val="F6EFE6"/>
                          </a:solidFill>
                          <a:latin typeface="TeX Gyre Adventor"/>
                          <a:ea typeface="TeX Gyre Adventor"/>
                          <a:cs typeface="TeX Gyre Adventor"/>
                        </a:rPr>
                        <a:t>Monthly service cost (₹)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50564A"/>
                      </a:solidFill>
                      <a:prstDash val="solid"/>
                    </a:lnL>
                    <a:lnR w="5715">
                      <a:solidFill>
                        <a:srgbClr val="50564A"/>
                      </a:solidFill>
                      <a:prstDash val="solid"/>
                    </a:lnR>
                    <a:lnT w="5715">
                      <a:solidFill>
                        <a:srgbClr val="50564A"/>
                      </a:solidFill>
                      <a:prstDash val="solid"/>
                    </a:lnT>
                    <a:lnB w="5715">
                      <a:solidFill>
                        <a:srgbClr val="50564A"/>
                      </a:solidFill>
                      <a:prstDash val="solid"/>
                    </a:lnB>
                    <a:solidFill>
                      <a:srgbClr val="353E31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r"/>
                      <a:r>
                        <a:rPr sz="1050" b="1">
                          <a:solidFill>
                            <a:srgbClr val="F6EFE6"/>
                          </a:solidFill>
                          <a:latin typeface="TeX Gyre Adventor"/>
                          <a:ea typeface="TeX Gyre Adventor"/>
                          <a:cs typeface="TeX Gyre Adventor"/>
                        </a:rPr>
                        <a:t>Typical use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50564A"/>
                      </a:solidFill>
                      <a:prstDash val="solid"/>
                    </a:lnR>
                    <a:lnT w="5715">
                      <a:solidFill>
                        <a:srgbClr val="50564A"/>
                      </a:solidFill>
                      <a:prstDash val="solid"/>
                    </a:lnT>
                    <a:lnB w="5715">
                      <a:solidFill>
                        <a:srgbClr val="50564A"/>
                      </a:solidFill>
                      <a:prstDash val="solid"/>
                    </a:lnB>
                    <a:solidFill>
                      <a:srgbClr val="353E31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r"/>
                      <a:r>
                        <a:rPr sz="1050" b="1">
                          <a:solidFill>
                            <a:srgbClr val="F6EFE6"/>
                          </a:solidFill>
                          <a:latin typeface="TeX Gyre Adventor"/>
                          <a:ea typeface="TeX Gyre Adventor"/>
                          <a:cs typeface="TeX Gyre Adventor"/>
                        </a:rPr>
                        <a:t>Full allowance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50564A"/>
                      </a:solidFill>
                      <a:prstDash val="solid"/>
                    </a:lnR>
                    <a:lnT w="5715">
                      <a:solidFill>
                        <a:srgbClr val="50564A"/>
                      </a:solidFill>
                      <a:prstDash val="solid"/>
                    </a:lnT>
                    <a:lnB w="5715">
                      <a:solidFill>
                        <a:srgbClr val="50564A"/>
                      </a:solidFill>
                      <a:prstDash val="solid"/>
                    </a:lnB>
                    <a:solidFill>
                      <a:srgbClr val="353E31"/>
                    </a:solidFill>
                  </a:tcPr>
                </a:tc>
              </a:tr>
              <a:tr h="304800">
                <a:tc>
                  <a:txBody>
                    <a:bodyPr lIns="76200" tIns="76200" rIns="76200" bIns="76200"/>
                    <a:lstStyle/>
                    <a:p>
                      <a:pPr algn="l"/>
                      <a:r>
                        <a:rPr sz="1050" b="0">
                          <a:solidFill>
                            <a:srgbClr val="F6EFE6"/>
                          </a:solidFill>
                          <a:latin typeface="TeX Gyre Adventor"/>
                          <a:ea typeface="TeX Gyre Adventor"/>
                          <a:cs typeface="TeX Gyre Adventor"/>
                        </a:rPr>
                        <a:t>Storage + delivery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50564A"/>
                      </a:solidFill>
                      <a:prstDash val="solid"/>
                    </a:lnL>
                    <a:lnR w="5715">
                      <a:solidFill>
                        <a:srgbClr val="50564A"/>
                      </a:solidFill>
                      <a:prstDash val="solid"/>
                    </a:lnR>
                    <a:lnB w="5715">
                      <a:solidFill>
                        <a:srgbClr val="50564A"/>
                      </a:solidFill>
                      <a:prstDash val="solid"/>
                    </a:lnB>
                    <a:solidFill>
                      <a:srgbClr val="21281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r"/>
                      <a:r>
                        <a:rPr sz="1050" b="0">
                          <a:solidFill>
                            <a:srgbClr val="F6EFE6"/>
                          </a:solidFill>
                          <a:latin typeface="TeX Gyre Adventor"/>
                          <a:ea typeface="TeX Gyre Adventor"/>
                          <a:cs typeface="TeX Gyre Adventor"/>
                        </a:rPr>
                        <a:t>5.97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50564A"/>
                      </a:solidFill>
                      <a:prstDash val="solid"/>
                    </a:lnR>
                    <a:lnB w="5715">
                      <a:solidFill>
                        <a:srgbClr val="50564A"/>
                      </a:solidFill>
                      <a:prstDash val="solid"/>
                    </a:lnB>
                    <a:solidFill>
                      <a:srgbClr val="21281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r"/>
                      <a:r>
                        <a:rPr sz="1050" b="0">
                          <a:solidFill>
                            <a:srgbClr val="F6EFE6"/>
                          </a:solidFill>
                          <a:latin typeface="TeX Gyre Adventor"/>
                          <a:ea typeface="TeX Gyre Adventor"/>
                          <a:cs typeface="TeX Gyre Adventor"/>
                        </a:rPr>
                        <a:t>17.69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50564A"/>
                      </a:solidFill>
                      <a:prstDash val="solid"/>
                    </a:lnR>
                    <a:lnB w="5715">
                      <a:solidFill>
                        <a:srgbClr val="50564A"/>
                      </a:solidFill>
                      <a:prstDash val="solid"/>
                    </a:lnB>
                    <a:solidFill>
                      <a:srgbClr val="21281F"/>
                    </a:solidFill>
                  </a:tcPr>
                </a:tc>
              </a:tr>
              <a:tr h="304800">
                <a:tc>
                  <a:txBody>
                    <a:bodyPr lIns="76200" tIns="76200" rIns="76200" bIns="76200"/>
                    <a:lstStyle/>
                    <a:p>
                      <a:pPr algn="l"/>
                      <a:r>
                        <a:rPr sz="1050" b="0">
                          <a:solidFill>
                            <a:srgbClr val="F6EFE6"/>
                          </a:solidFill>
                          <a:latin typeface="TeX Gyre Adventor"/>
                          <a:ea typeface="TeX Gyre Adventor"/>
                          <a:cs typeface="TeX Gyre Adventor"/>
                        </a:rPr>
                        <a:t>AI answers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50564A"/>
                      </a:solidFill>
                      <a:prstDash val="solid"/>
                    </a:lnL>
                    <a:lnR w="5715">
                      <a:solidFill>
                        <a:srgbClr val="50564A"/>
                      </a:solidFill>
                      <a:prstDash val="solid"/>
                    </a:lnR>
                    <a:lnB w="5715">
                      <a:solidFill>
                        <a:srgbClr val="50564A"/>
                      </a:solidFill>
                      <a:prstDash val="solid"/>
                    </a:lnB>
                    <a:solidFill>
                      <a:srgbClr val="21281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r"/>
                      <a:r>
                        <a:rPr sz="1050" b="0">
                          <a:solidFill>
                            <a:srgbClr val="F6EFE6"/>
                          </a:solidFill>
                          <a:latin typeface="TeX Gyre Adventor"/>
                          <a:ea typeface="TeX Gyre Adventor"/>
                          <a:cs typeface="TeX Gyre Adventor"/>
                        </a:rPr>
                        <a:t>6.00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50564A"/>
                      </a:solidFill>
                      <a:prstDash val="solid"/>
                    </a:lnR>
                    <a:lnB w="5715">
                      <a:solidFill>
                        <a:srgbClr val="50564A"/>
                      </a:solidFill>
                      <a:prstDash val="solid"/>
                    </a:lnB>
                    <a:solidFill>
                      <a:srgbClr val="21281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r"/>
                      <a:r>
                        <a:rPr sz="1050" b="0">
                          <a:solidFill>
                            <a:srgbClr val="F6EFE6"/>
                          </a:solidFill>
                          <a:latin typeface="TeX Gyre Adventor"/>
                          <a:ea typeface="TeX Gyre Adventor"/>
                          <a:cs typeface="TeX Gyre Adventor"/>
                        </a:rPr>
                        <a:t>15.00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50564A"/>
                      </a:solidFill>
                      <a:prstDash val="solid"/>
                    </a:lnR>
                    <a:lnB w="5715">
                      <a:solidFill>
                        <a:srgbClr val="50564A"/>
                      </a:solidFill>
                      <a:prstDash val="solid"/>
                    </a:lnB>
                    <a:solidFill>
                      <a:srgbClr val="21281F"/>
                    </a:solidFill>
                  </a:tcPr>
                </a:tc>
              </a:tr>
              <a:tr h="304800">
                <a:tc>
                  <a:txBody>
                    <a:bodyPr lIns="76200" tIns="76200" rIns="76200" bIns="76200"/>
                    <a:lstStyle/>
                    <a:p>
                      <a:pPr algn="l"/>
                      <a:r>
                        <a:rPr sz="1050" b="0">
                          <a:solidFill>
                            <a:srgbClr val="F6EFE6"/>
                          </a:solidFill>
                          <a:latin typeface="TeX Gyre Adventor"/>
                          <a:ea typeface="TeX Gyre Adventor"/>
                          <a:cs typeface="TeX Gyre Adventor"/>
                        </a:rPr>
                        <a:t>TinyFish research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50564A"/>
                      </a:solidFill>
                      <a:prstDash val="solid"/>
                    </a:lnL>
                    <a:lnR w="5715">
                      <a:solidFill>
                        <a:srgbClr val="50564A"/>
                      </a:solidFill>
                      <a:prstDash val="solid"/>
                    </a:lnR>
                    <a:lnB w="5715">
                      <a:solidFill>
                        <a:srgbClr val="50564A"/>
                      </a:solidFill>
                      <a:prstDash val="solid"/>
                    </a:lnB>
                    <a:solidFill>
                      <a:srgbClr val="21281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r"/>
                      <a:r>
                        <a:rPr sz="1050" b="0">
                          <a:solidFill>
                            <a:srgbClr val="F6EFE6"/>
                          </a:solidFill>
                          <a:latin typeface="TeX Gyre Adventor"/>
                          <a:ea typeface="TeX Gyre Adventor"/>
                          <a:cs typeface="TeX Gyre Adventor"/>
                        </a:rPr>
                        <a:t>8.64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50564A"/>
                      </a:solidFill>
                      <a:prstDash val="solid"/>
                    </a:lnR>
                    <a:lnB w="5715">
                      <a:solidFill>
                        <a:srgbClr val="50564A"/>
                      </a:solidFill>
                      <a:prstDash val="solid"/>
                    </a:lnB>
                    <a:solidFill>
                      <a:srgbClr val="21281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r"/>
                      <a:r>
                        <a:rPr sz="1050" b="0">
                          <a:solidFill>
                            <a:srgbClr val="F6EFE6"/>
                          </a:solidFill>
                          <a:latin typeface="TeX Gyre Adventor"/>
                          <a:ea typeface="TeX Gyre Adventor"/>
                          <a:cs typeface="TeX Gyre Adventor"/>
                        </a:rPr>
                        <a:t>17.28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50564A"/>
                      </a:solidFill>
                      <a:prstDash val="solid"/>
                    </a:lnR>
                    <a:lnB w="5715">
                      <a:solidFill>
                        <a:srgbClr val="50564A"/>
                      </a:solidFill>
                      <a:prstDash val="solid"/>
                    </a:lnB>
                    <a:solidFill>
                      <a:srgbClr val="21281F"/>
                    </a:solidFill>
                  </a:tcPr>
                </a:tc>
              </a:tr>
              <a:tr h="304800">
                <a:tc>
                  <a:txBody>
                    <a:bodyPr lIns="76200" tIns="76200" rIns="76200" bIns="76200"/>
                    <a:lstStyle/>
                    <a:p>
                      <a:pPr algn="l"/>
                      <a:r>
                        <a:rPr sz="1050" b="0">
                          <a:solidFill>
                            <a:srgbClr val="F6EFE6"/>
                          </a:solidFill>
                          <a:latin typeface="TeX Gyre Adventor"/>
                          <a:ea typeface="TeX Gyre Adventor"/>
                          <a:cs typeface="TeX Gyre Adventor"/>
                        </a:rPr>
                        <a:t>Processing + support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50564A"/>
                      </a:solidFill>
                      <a:prstDash val="solid"/>
                    </a:lnL>
                    <a:lnR w="5715">
                      <a:solidFill>
                        <a:srgbClr val="50564A"/>
                      </a:solidFill>
                      <a:prstDash val="solid"/>
                    </a:lnR>
                    <a:lnB w="5715">
                      <a:solidFill>
                        <a:srgbClr val="50564A"/>
                      </a:solidFill>
                      <a:prstDash val="solid"/>
                    </a:lnB>
                    <a:solidFill>
                      <a:srgbClr val="21281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r"/>
                      <a:r>
                        <a:rPr sz="1050" b="0">
                          <a:solidFill>
                            <a:srgbClr val="F6EFE6"/>
                          </a:solidFill>
                          <a:latin typeface="TeX Gyre Adventor"/>
                          <a:ea typeface="TeX Gyre Adventor"/>
                          <a:cs typeface="TeX Gyre Adventor"/>
                        </a:rPr>
                        <a:t>6.00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50564A"/>
                      </a:solidFill>
                      <a:prstDash val="solid"/>
                    </a:lnR>
                    <a:lnB w="5715">
                      <a:solidFill>
                        <a:srgbClr val="50564A"/>
                      </a:solidFill>
                      <a:prstDash val="solid"/>
                    </a:lnB>
                    <a:solidFill>
                      <a:srgbClr val="21281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r"/>
                      <a:r>
                        <a:rPr sz="1050" b="0">
                          <a:solidFill>
                            <a:srgbClr val="F6EFE6"/>
                          </a:solidFill>
                          <a:latin typeface="TeX Gyre Adventor"/>
                          <a:ea typeface="TeX Gyre Adventor"/>
                          <a:cs typeface="TeX Gyre Adventor"/>
                        </a:rPr>
                        <a:t>7.00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50564A"/>
                      </a:solidFill>
                      <a:prstDash val="solid"/>
                    </a:lnR>
                    <a:lnB w="5715">
                      <a:solidFill>
                        <a:srgbClr val="50564A"/>
                      </a:solidFill>
                      <a:prstDash val="solid"/>
                    </a:lnB>
                    <a:solidFill>
                      <a:srgbClr val="21281F"/>
                    </a:solidFill>
                  </a:tcPr>
                </a:tc>
              </a:tr>
              <a:tr h="304800">
                <a:tc>
                  <a:txBody>
                    <a:bodyPr lIns="76200" tIns="76200" rIns="76200" bIns="76200"/>
                    <a:lstStyle/>
                    <a:p>
                      <a:pPr algn="l"/>
                      <a:r>
                        <a:rPr sz="1050" b="0">
                          <a:solidFill>
                            <a:srgbClr val="F6EFE6"/>
                          </a:solidFill>
                          <a:latin typeface="TeX Gyre Adventor"/>
                          <a:ea typeface="TeX Gyre Adventor"/>
                          <a:cs typeface="TeX Gyre Adventor"/>
                        </a:rPr>
                        <a:t>Total variable cost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50564A"/>
                      </a:solidFill>
                      <a:prstDash val="solid"/>
                    </a:lnL>
                    <a:lnR w="5715">
                      <a:solidFill>
                        <a:srgbClr val="50564A"/>
                      </a:solidFill>
                      <a:prstDash val="solid"/>
                    </a:lnR>
                    <a:lnB w="5715">
                      <a:solidFill>
                        <a:srgbClr val="50564A"/>
                      </a:solidFill>
                      <a:prstDash val="solid"/>
                    </a:lnB>
                    <a:solidFill>
                      <a:srgbClr val="21281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r"/>
                      <a:r>
                        <a:rPr sz="1050" b="0">
                          <a:solidFill>
                            <a:srgbClr val="F6EFE6"/>
                          </a:solidFill>
                          <a:latin typeface="TeX Gyre Adventor"/>
                          <a:ea typeface="TeX Gyre Adventor"/>
                          <a:cs typeface="TeX Gyre Adventor"/>
                        </a:rPr>
                        <a:t>26.61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50564A"/>
                      </a:solidFill>
                      <a:prstDash val="solid"/>
                    </a:lnR>
                    <a:lnB w="5715">
                      <a:solidFill>
                        <a:srgbClr val="50564A"/>
                      </a:solidFill>
                      <a:prstDash val="solid"/>
                    </a:lnB>
                    <a:solidFill>
                      <a:srgbClr val="21281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r"/>
                      <a:r>
                        <a:rPr sz="1050" b="0">
                          <a:solidFill>
                            <a:srgbClr val="F6EFE6"/>
                          </a:solidFill>
                          <a:latin typeface="TeX Gyre Adventor"/>
                          <a:ea typeface="TeX Gyre Adventor"/>
                          <a:cs typeface="TeX Gyre Adventor"/>
                        </a:rPr>
                        <a:t>56.97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50564A"/>
                      </a:solidFill>
                      <a:prstDash val="solid"/>
                    </a:lnR>
                    <a:lnB w="5715">
                      <a:solidFill>
                        <a:srgbClr val="50564A"/>
                      </a:solidFill>
                      <a:prstDash val="solid"/>
                    </a:lnB>
                    <a:solidFill>
                      <a:srgbClr val="21281F"/>
                    </a:solidFill>
                  </a:tcPr>
                </a:tc>
              </a:tr>
            </a:tbl>
          </a:graphicData>
        </a:graphic>
      </p:graphicFrame>
      <p:sp>
        <p:nvSpPr>
          <p:cNvPr id="9" name="element-91">
            <a:extLst xmlns:a="http://schemas.openxmlformats.org/drawingml/2006/main">
              <a:ext uri="{FF2B5EF4-FFF2-40B4-BE49-F238E27FC236}">
                <a16:creationId xmlns:a16="http://schemas.microsoft.com/office/drawing/2014/main" id="{591BB038-E7D8-4436-A5AC-9E2454D65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52925"/>
            <a:ext cx="809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0" i="0">
                <a:solidFill>
                  <a:srgbClr val="D3D4C8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975" b="0" i="0">
                <a:solidFill>
                  <a:srgbClr val="D3D4C8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975" b="0" i="0">
                <a:solidFill>
                  <a:srgbClr val="D3D4C8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975" b="0" i="0">
                <a:solidFill>
                  <a:srgbClr val="D3D4C8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975" b="0" i="0">
                <a:solidFill>
                  <a:srgbClr val="D3D4C8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975" b="0" i="0">
                <a:solidFill>
                  <a:srgbClr val="D3D4C8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975" b="0" i="0">
                <a:solidFill>
                  <a:srgbClr val="D3D4C8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975" b="0" i="0">
                <a:solidFill>
                  <a:srgbClr val="D3D4C8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975" b="0" i="0">
                <a:solidFill>
                  <a:srgbClr val="D3D4C8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975" b="0" i="0">
                <a:solidFill>
                  <a:srgbClr val="D3D4C8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975" b="0" i="0">
                <a:solidFill>
                  <a:srgbClr val="D3D4C8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975" b="0" i="0">
                <a:solidFill>
                  <a:srgbClr val="D3D4C8"/>
                </a:solidFill>
                <a:latin typeface="TeX Gyre Adventor"/>
                <a:ea typeface="TeX Gyre Adventor"/>
                <a:cs typeface="TeX Gyre Adventor"/>
              </a:rPr>
              <a:t>Typical: 1 GB stored, 20 AI answers, one 6-step research run. Step price $0.016. Planning FX ₹90/USD.</a:t>
            </a:r>
          </a:p>
        </p:txBody>
      </p:sp>
      <p:sp>
        <p:nvSpPr>
          <p:cNvPr id="10" name="element-92">
            <a:extLst xmlns:a="http://schemas.openxmlformats.org/drawingml/2006/main">
              <a:ext uri="{FF2B5EF4-FFF2-40B4-BE49-F238E27FC236}">
                <a16:creationId xmlns:a16="http://schemas.microsoft.com/office/drawing/2014/main" id="{F8B09733-8E85-4AEC-AF77-0952B8FDD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86300"/>
            <a:ext cx="752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 i="0">
                <a:solidFill>
                  <a:srgbClr val="D3D4C8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900" b="0" i="0">
                <a:solidFill>
                  <a:srgbClr val="D3D4C8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900" b="0" i="0">
                <a:solidFill>
                  <a:srgbClr val="D3D4C8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900" b="0" i="0">
                <a:solidFill>
                  <a:srgbClr val="D3D4C8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900" b="0" i="0">
                <a:solidFill>
                  <a:srgbClr val="D3D4C8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900" b="0" i="0">
                <a:solidFill>
                  <a:srgbClr val="D3D4C8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900" b="0" i="0">
                <a:solidFill>
                  <a:srgbClr val="D3D4C8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900" b="0" i="0">
                <a:solidFill>
                  <a:srgbClr val="D3D4C8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900" b="0" i="0">
                <a:solidFill>
                  <a:srgbClr val="D3D4C8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900" b="0" i="0">
                <a:solidFill>
                  <a:srgbClr val="D3D4C8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D3D4C8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900" b="0" i="0">
                <a:solidFill>
                  <a:srgbClr val="D3D4C8"/>
                </a:solidFill>
                <a:latin typeface="TeX Gyre Adventor"/>
                <a:ea typeface="TeX Gyre Adventor"/>
                <a:cs typeface="TeX Gyre Adventor"/>
              </a:rPr>
              <a:t>Net receipts ≈₹123 after illustrative tax/fees. Free accounts and fixed costs still need funding. Model and sources accompany the deck.</a:t>
            </a:r>
          </a:p>
        </p:txBody>
      </p:sp>
      <p:sp>
        <p:nvSpPr>
          <p:cNvPr id="11" name="element-93">
            <a:extLst xmlns:a="http://schemas.openxmlformats.org/drawingml/2006/main">
              <a:ext uri="{FF2B5EF4-FFF2-40B4-BE49-F238E27FC236}">
                <a16:creationId xmlns:a16="http://schemas.microsoft.com/office/drawing/2014/main" id="{AF9F070F-C02C-41EC-BEF8-528BE6A49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857750"/>
            <a:ext cx="381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825" b="0" i="0">
                <a:solidFill>
                  <a:srgbClr val="C5C6BB"/>
                </a:solidFill>
                <a:latin typeface="TeX Gyre Adventor"/>
                <a:ea typeface="TeX Gyre Adventor"/>
                <a:cs typeface="TeX Gyre Adventor"/>
              </a:defRPr>
            </a:defPPr>
            <a:lvl1pPr algn="r">
              <a:defRPr sz="825" b="0" i="0">
                <a:solidFill>
                  <a:srgbClr val="C5C6BB"/>
                </a:solidFill>
                <a:latin typeface="TeX Gyre Adventor"/>
                <a:ea typeface="TeX Gyre Adventor"/>
                <a:cs typeface="TeX Gyre Adventor"/>
              </a:defRPr>
            </a:lvl1pPr>
            <a:lvl2pPr algn="r">
              <a:defRPr sz="825" b="0" i="0">
                <a:solidFill>
                  <a:srgbClr val="C5C6BB"/>
                </a:solidFill>
                <a:latin typeface="TeX Gyre Adventor"/>
                <a:ea typeface="TeX Gyre Adventor"/>
                <a:cs typeface="TeX Gyre Adventor"/>
              </a:defRPr>
            </a:lvl2pPr>
            <a:lvl3pPr algn="r">
              <a:defRPr sz="825" b="0" i="0">
                <a:solidFill>
                  <a:srgbClr val="C5C6BB"/>
                </a:solidFill>
                <a:latin typeface="TeX Gyre Adventor"/>
                <a:ea typeface="TeX Gyre Adventor"/>
                <a:cs typeface="TeX Gyre Adventor"/>
              </a:defRPr>
            </a:lvl3pPr>
            <a:lvl4pPr algn="r">
              <a:defRPr sz="825" b="0" i="0">
                <a:solidFill>
                  <a:srgbClr val="C5C6BB"/>
                </a:solidFill>
                <a:latin typeface="TeX Gyre Adventor"/>
                <a:ea typeface="TeX Gyre Adventor"/>
                <a:cs typeface="TeX Gyre Adventor"/>
              </a:defRPr>
            </a:lvl4pPr>
            <a:lvl5pPr algn="r">
              <a:defRPr sz="825" b="0" i="0">
                <a:solidFill>
                  <a:srgbClr val="C5C6BB"/>
                </a:solidFill>
                <a:latin typeface="TeX Gyre Adventor"/>
                <a:ea typeface="TeX Gyre Adventor"/>
                <a:cs typeface="TeX Gyre Adventor"/>
              </a:defRPr>
            </a:lvl5pPr>
            <a:lvl6pPr algn="r">
              <a:defRPr sz="825" b="0" i="0">
                <a:solidFill>
                  <a:srgbClr val="C5C6BB"/>
                </a:solidFill>
                <a:latin typeface="TeX Gyre Adventor"/>
                <a:ea typeface="TeX Gyre Adventor"/>
                <a:cs typeface="TeX Gyre Adventor"/>
              </a:defRPr>
            </a:lvl6pPr>
            <a:lvl7pPr algn="r">
              <a:defRPr sz="825" b="0" i="0">
                <a:solidFill>
                  <a:srgbClr val="C5C6BB"/>
                </a:solidFill>
                <a:latin typeface="TeX Gyre Adventor"/>
                <a:ea typeface="TeX Gyre Adventor"/>
                <a:cs typeface="TeX Gyre Adventor"/>
              </a:defRPr>
            </a:lvl7pPr>
            <a:lvl8pPr algn="r">
              <a:defRPr sz="825" b="0" i="0">
                <a:solidFill>
                  <a:srgbClr val="C5C6BB"/>
                </a:solidFill>
                <a:latin typeface="TeX Gyre Adventor"/>
                <a:ea typeface="TeX Gyre Adventor"/>
                <a:cs typeface="TeX Gyre Adventor"/>
              </a:defRPr>
            </a:lvl8pPr>
            <a:lvl9pPr algn="r">
              <a:defRPr sz="825" b="0" i="0">
                <a:solidFill>
                  <a:srgbClr val="C5C6BB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r">
              <a:defRPr sz="825" b="0" i="0">
                <a:solidFill>
                  <a:srgbClr val="C5C6BB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825" b="0" i="0">
                <a:solidFill>
                  <a:srgbClr val="C5C6BB"/>
                </a:solidFill>
                <a:latin typeface="TeX Gyre Adventor"/>
                <a:ea typeface="TeX Gyre Adventor"/>
                <a:cs typeface="TeX Gyre Adventor"/>
              </a:rPr>
              <a:t>6 / 8</a:t>
            </a:r>
          </a:p>
        </p:txBody>
      </p:sp>
    </p:spTree>
    <p:extLst>
      <p:ext uri="{BB962C8B-B14F-4D97-AF65-F5344CB8AC3E}">
        <p14:creationId xmlns:p14="http://schemas.microsoft.com/office/powerpoint/2010/main" val="41406793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EF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element-94">
            <a:extLst xmlns:a="http://schemas.openxmlformats.org/drawingml/2006/main">
              <a:ext uri="{FF2B5EF4-FFF2-40B4-BE49-F238E27FC236}">
                <a16:creationId xmlns:a16="http://schemas.microsoft.com/office/drawing/2014/main" id="{55A03BC5-3B72-401D-B525-0737FDA32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8096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defPPr>
            <a:lvl1pPr algn="l">
              <a:def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1pPr>
            <a:lvl2pPr algn="l">
              <a:def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2pPr>
            <a:lvl3pPr algn="l">
              <a:def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3pPr>
            <a:lvl4pPr algn="l">
              <a:def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4pPr>
            <a:lvl5pPr algn="l">
              <a:def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5pPr>
            <a:lvl6pPr algn="l">
              <a:def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6pPr>
            <a:lvl7pPr algn="l">
              <a:def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7pPr>
            <a:lvl8pPr algn="l">
              <a:def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8pPr>
            <a:lvl9pPr algn="l">
              <a:def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9pPr>
          </a:lstStyle>
          <a:p xmlns:a="http://schemas.openxmlformats.org/drawingml/2006/main">
            <a:pPr algn="l">
              <a:def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pPr>
            <a:r>
              <a: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rPr>
              <a:t>How we reach people, keep them, and earn</a:t>
            </a:r>
          </a:p>
          <a:p xmlns:a="http://schemas.openxmlformats.org/drawingml/2006/main">
            <a:pPr algn="l">
              <a:def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pPr>
            <a:r>
              <a: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rPr>
              <a:t>from it</a:t>
            </a:r>
          </a:p>
        </p:txBody>
      </p:sp>
      <p:sp>
        <p:nvSpPr>
          <p:cNvPr id="2" name="element-95">
            <a:extLst xmlns:a="http://schemas.openxmlformats.org/drawingml/2006/main">
              <a:ext uri="{FF2B5EF4-FFF2-40B4-BE49-F238E27FC236}">
                <a16:creationId xmlns:a16="http://schemas.microsoft.com/office/drawing/2014/main" id="{A43B7092-FF4D-4C83-B946-E80EB5053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43025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rPr>
              <a:t>REACH</a:t>
            </a:r>
          </a:p>
        </p:txBody>
      </p:sp>
      <p:sp>
        <p:nvSpPr>
          <p:cNvPr id="3" name="element-96">
            <a:extLst xmlns:a="http://schemas.openxmlformats.org/drawingml/2006/main">
              <a:ext uri="{FF2B5EF4-FFF2-40B4-BE49-F238E27FC236}">
                <a16:creationId xmlns:a16="http://schemas.microsoft.com/office/drawing/2014/main" id="{519DB4A0-A290-4940-B485-CB25262A1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00200"/>
            <a:ext cx="38576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rPr>
              <a:t>Start with an opt-in pilot of 20 adult DTU students. Measure capture and revisits before expanding.</a:t>
            </a:r>
          </a:p>
        </p:txBody>
      </p:sp>
      <p:sp>
        <p:nvSpPr>
          <p:cNvPr id="4" name="element-97">
            <a:extLst xmlns:a="http://schemas.openxmlformats.org/drawingml/2006/main">
              <a:ext uri="{FF2B5EF4-FFF2-40B4-BE49-F238E27FC236}">
                <a16:creationId xmlns:a16="http://schemas.microsoft.com/office/drawing/2014/main" id="{747015AE-C273-4908-994F-BF80D6CA8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rPr>
              <a:t>REASON TO RETURN</a:t>
            </a:r>
          </a:p>
        </p:txBody>
      </p:sp>
      <p:sp>
        <p:nvSpPr>
          <p:cNvPr id="5" name="element-98">
            <a:extLst xmlns:a="http://schemas.openxmlformats.org/drawingml/2006/main">
              <a:ext uri="{FF2B5EF4-FFF2-40B4-BE49-F238E27FC236}">
                <a16:creationId xmlns:a16="http://schemas.microsoft.com/office/drawing/2014/main" id="{CD28A7C2-5D30-44CD-AEA9-D7E4CA4D0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33675"/>
            <a:ext cx="3857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rPr>
              <a:t>Make a quick page now. Return to the people, places and words that connect your days.</a:t>
            </a:r>
          </a:p>
        </p:txBody>
      </p:sp>
      <p:sp>
        <p:nvSpPr>
          <p:cNvPr id="6" name="element-99">
            <a:extLst xmlns:a="http://schemas.openxmlformats.org/drawingml/2006/main">
              <a:ext uri="{FF2B5EF4-FFF2-40B4-BE49-F238E27FC236}">
                <a16:creationId xmlns:a16="http://schemas.microsoft.com/office/drawing/2014/main" id="{8FC4F810-1DD0-439E-9811-86DEFEAAF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71875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rPr>
              <a:t>REVENUE</a:t>
            </a:r>
          </a:p>
        </p:txBody>
      </p:sp>
      <p:sp>
        <p:nvSpPr>
          <p:cNvPr id="7" name="element-100">
            <a:extLst xmlns:a="http://schemas.openxmlformats.org/drawingml/2006/main">
              <a:ext uri="{FF2B5EF4-FFF2-40B4-BE49-F238E27FC236}">
                <a16:creationId xmlns:a16="http://schemas.microsoft.com/office/drawing/2014/main" id="{DAFD5AB3-6504-4382-90DC-0D7BC7D73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29050"/>
            <a:ext cx="3857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rPr>
              <a:t>A capped subscription funds storage and AI. Extra research packs follow measured costs.</a:t>
            </a:r>
          </a:p>
        </p:txBody>
      </p:sp>
      <p:sp>
        <p:nvSpPr>
          <p:cNvPr id="8" name="element-101">
            <a:extLst xmlns:a="http://schemas.openxmlformats.org/drawingml/2006/main">
              <a:ext uri="{FF2B5EF4-FFF2-40B4-BE49-F238E27FC236}">
                <a16:creationId xmlns:a16="http://schemas.microsoft.com/office/drawing/2014/main" id="{BDC4C496-37F7-4710-8B61-38484E01C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343025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rPr>
              <a:t>PROPOSED COMMERCIAL PLANS</a:t>
            </a:r>
          </a:p>
        </p:txBody>
      </p:sp>
      <p:graphicFrame>
        <p:nvGraphicFrame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183298-B37A-46B9-B4C4-5C1CA99C16FC}"/>
              </a:ext>
            </a:extLst>
          </p:cNvPr>
          <p:cNvGraphicFramePr/>
          <p:nvPr/>
        </p:nvGraphicFramePr>
        <p:xfrm>
          <a:off xmlns:a="http://schemas.openxmlformats.org/drawingml/2006/main" x="4629150" y="1676400"/>
          <a:ext xmlns:a="http://schemas.openxmlformats.org/drawingml/2006/main" cx="4000500" cy="2190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38350"/>
                <a:gridCol w="914400"/>
                <a:gridCol w="1047750"/>
              </a:tblGrid>
              <a:tr h="438150">
                <a:tc>
                  <a:txBody>
                    <a:bodyPr lIns="76200" tIns="76200" rIns="76200" bIns="76200"/>
                    <a:lstStyle/>
                    <a:p>
                      <a:r>
                        <a:rPr sz="1050" b="1">
                          <a:solidFill>
                            <a:srgbClr val="F6EFE6"/>
                          </a:solidFill>
                          <a:latin typeface="TeX Gyre Adventor"/>
                          <a:ea typeface="TeX Gyre Adventor"/>
                          <a:cs typeface="TeX Gyre Adventor"/>
                        </a:rPr>
                        <a:t/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ACFC0"/>
                      </a:solidFill>
                      <a:prstDash val="solid"/>
                    </a:lnL>
                    <a:lnR w="5715">
                      <a:solidFill>
                        <a:srgbClr val="DACFC0"/>
                      </a:solidFill>
                      <a:prstDash val="solid"/>
                    </a:lnR>
                    <a:lnT w="5715">
                      <a:solidFill>
                        <a:srgbClr val="DACFC0"/>
                      </a:solidFill>
                      <a:prstDash val="solid"/>
                    </a:lnT>
                    <a:lnB w="5715">
                      <a:solidFill>
                        <a:srgbClr val="DACFC0"/>
                      </a:solidFill>
                      <a:prstDash val="solid"/>
                    </a:lnB>
                    <a:solidFill>
                      <a:srgbClr val="21281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r"/>
                      <a:r>
                        <a:rPr sz="1050" b="1">
                          <a:solidFill>
                            <a:srgbClr val="F6EFE6"/>
                          </a:solidFill>
                          <a:latin typeface="TeX Gyre Adventor"/>
                          <a:ea typeface="TeX Gyre Adventor"/>
                          <a:cs typeface="TeX Gyre Adventor"/>
                        </a:rPr>
                        <a:t>Free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ACFC0"/>
                      </a:solidFill>
                      <a:prstDash val="solid"/>
                    </a:lnR>
                    <a:lnT w="5715">
                      <a:solidFill>
                        <a:srgbClr val="DACFC0"/>
                      </a:solidFill>
                      <a:prstDash val="solid"/>
                    </a:lnT>
                    <a:lnB w="5715">
                      <a:solidFill>
                        <a:srgbClr val="DACFC0"/>
                      </a:solidFill>
                      <a:prstDash val="solid"/>
                    </a:lnB>
                    <a:solidFill>
                      <a:srgbClr val="21281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r"/>
                      <a:r>
                        <a:rPr sz="1050" b="1">
                          <a:solidFill>
                            <a:srgbClr val="F6EFE6"/>
                          </a:solidFill>
                          <a:latin typeface="TeX Gyre Adventor"/>
                          <a:ea typeface="TeX Gyre Adventor"/>
                          <a:cs typeface="TeX Gyre Adventor"/>
                        </a:rPr>
                        <a:t>Plus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ACFC0"/>
                      </a:solidFill>
                      <a:prstDash val="solid"/>
                    </a:lnR>
                    <a:lnT w="5715">
                      <a:solidFill>
                        <a:srgbClr val="DACFC0"/>
                      </a:solidFill>
                      <a:prstDash val="solid"/>
                    </a:lnT>
                    <a:lnB w="5715">
                      <a:solidFill>
                        <a:srgbClr val="DACFC0"/>
                      </a:solidFill>
                      <a:prstDash val="solid"/>
                    </a:lnB>
                    <a:solidFill>
                      <a:srgbClr val="21281F"/>
                    </a:solidFill>
                  </a:tcPr>
                </a:tc>
              </a:tr>
              <a:tr h="438150">
                <a:tc>
                  <a:txBody>
                    <a:bodyPr lIns="76200" tIns="76200" rIns="76200" bIns="76200"/>
                    <a:lstStyle/>
                    <a:p>
                      <a:pPr algn="l"/>
                      <a:r>
                        <a:rPr sz="1050" b="0">
                          <a:solidFill>
                            <a:srgbClr val="21281F"/>
                          </a:solidFill>
                          <a:latin typeface="TeX Gyre Adventor"/>
                          <a:ea typeface="TeX Gyre Adventor"/>
                          <a:cs typeface="TeX Gyre Adventor"/>
                        </a:rPr>
                        <a:t>Price / month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ACFC0"/>
                      </a:solidFill>
                      <a:prstDash val="solid"/>
                    </a:lnL>
                    <a:lnR w="5715">
                      <a:solidFill>
                        <a:srgbClr val="DACFC0"/>
                      </a:solidFill>
                      <a:prstDash val="solid"/>
                    </a:lnR>
                    <a:lnB w="5715">
                      <a:solidFill>
                        <a:srgbClr val="DACFC0"/>
                      </a:solidFill>
                      <a:prstDash val="solid"/>
                    </a:lnB>
                    <a:solidFill>
                      <a:srgbClr val="F6EFE6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r"/>
                      <a:r>
                        <a:rPr sz="1050" b="0">
                          <a:solidFill>
                            <a:srgbClr val="21281F"/>
                          </a:solidFill>
                          <a:latin typeface="TeX Gyre Adventor"/>
                          <a:ea typeface="TeX Gyre Adventor"/>
                          <a:cs typeface="TeX Gyre Adventor"/>
                        </a:rPr>
                        <a:t>₹0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ACFC0"/>
                      </a:solidFill>
                      <a:prstDash val="solid"/>
                    </a:lnR>
                    <a:lnB w="5715">
                      <a:solidFill>
                        <a:srgbClr val="DACFC0"/>
                      </a:solidFill>
                      <a:prstDash val="solid"/>
                    </a:lnB>
                    <a:solidFill>
                      <a:srgbClr val="F6EFE6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r"/>
                      <a:r>
                        <a:rPr sz="1050" b="0">
                          <a:solidFill>
                            <a:srgbClr val="21281F"/>
                          </a:solidFill>
                          <a:latin typeface="TeX Gyre Adventor"/>
                          <a:ea typeface="TeX Gyre Adventor"/>
                          <a:cs typeface="TeX Gyre Adventor"/>
                        </a:rPr>
                        <a:t>₹149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ACFC0"/>
                      </a:solidFill>
                      <a:prstDash val="solid"/>
                    </a:lnR>
                    <a:lnB w="5715">
                      <a:solidFill>
                        <a:srgbClr val="DACFC0"/>
                      </a:solidFill>
                      <a:prstDash val="solid"/>
                    </a:lnB>
                    <a:solidFill>
                      <a:srgbClr val="F6EFE6"/>
                    </a:solidFill>
                  </a:tcPr>
                </a:tc>
              </a:tr>
              <a:tr h="438150">
                <a:tc>
                  <a:txBody>
                    <a:bodyPr lIns="76200" tIns="76200" rIns="76200" bIns="76200"/>
                    <a:lstStyle/>
                    <a:p>
                      <a:pPr algn="l"/>
                      <a:r>
                        <a:rPr sz="1050" b="0">
                          <a:solidFill>
                            <a:srgbClr val="21281F"/>
                          </a:solidFill>
                          <a:latin typeface="TeX Gyre Adventor"/>
                          <a:ea typeface="TeX Gyre Adventor"/>
                          <a:cs typeface="TeX Gyre Adventor"/>
                        </a:rPr>
                        <a:t>Media allowance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ACFC0"/>
                      </a:solidFill>
                      <a:prstDash val="solid"/>
                    </a:lnL>
                    <a:lnR w="5715">
                      <a:solidFill>
                        <a:srgbClr val="DACFC0"/>
                      </a:solidFill>
                      <a:prstDash val="solid"/>
                    </a:lnR>
                    <a:lnB w="5715">
                      <a:solidFill>
                        <a:srgbClr val="DACFC0"/>
                      </a:solidFill>
                      <a:prstDash val="solid"/>
                    </a:lnB>
                    <a:solidFill>
                      <a:srgbClr val="F6EFE6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r"/>
                      <a:r>
                        <a:rPr sz="1050" b="0">
                          <a:solidFill>
                            <a:srgbClr val="21281F"/>
                          </a:solidFill>
                          <a:latin typeface="TeX Gyre Adventor"/>
                          <a:ea typeface="TeX Gyre Adventor"/>
                          <a:cs typeface="TeX Gyre Adventor"/>
                        </a:rPr>
                        <a:t>250 MB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ACFC0"/>
                      </a:solidFill>
                      <a:prstDash val="solid"/>
                    </a:lnR>
                    <a:lnB w="5715">
                      <a:solidFill>
                        <a:srgbClr val="DACFC0"/>
                      </a:solidFill>
                      <a:prstDash val="solid"/>
                    </a:lnB>
                    <a:solidFill>
                      <a:srgbClr val="F6EFE6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r"/>
                      <a:r>
                        <a:rPr sz="1050" b="0">
                          <a:solidFill>
                            <a:srgbClr val="21281F"/>
                          </a:solidFill>
                          <a:latin typeface="TeX Gyre Adventor"/>
                          <a:ea typeface="TeX Gyre Adventor"/>
                          <a:cs typeface="TeX Gyre Adventor"/>
                        </a:rPr>
                        <a:t>5 GB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ACFC0"/>
                      </a:solidFill>
                      <a:prstDash val="solid"/>
                    </a:lnR>
                    <a:lnB w="5715">
                      <a:solidFill>
                        <a:srgbClr val="DACFC0"/>
                      </a:solidFill>
                      <a:prstDash val="solid"/>
                    </a:lnB>
                    <a:solidFill>
                      <a:srgbClr val="F6EFE6"/>
                    </a:solidFill>
                  </a:tcPr>
                </a:tc>
              </a:tr>
              <a:tr h="438150">
                <a:tc>
                  <a:txBody>
                    <a:bodyPr lIns="76200" tIns="76200" rIns="76200" bIns="76200"/>
                    <a:lstStyle/>
                    <a:p>
                      <a:pPr algn="l"/>
                      <a:r>
                        <a:rPr sz="1050" b="0">
                          <a:solidFill>
                            <a:srgbClr val="21281F"/>
                          </a:solidFill>
                          <a:latin typeface="TeX Gyre Adventor"/>
                          <a:ea typeface="TeX Gyre Adventor"/>
                          <a:cs typeface="TeX Gyre Adventor"/>
                        </a:rPr>
                        <a:t>AI answers / month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ACFC0"/>
                      </a:solidFill>
                      <a:prstDash val="solid"/>
                    </a:lnL>
                    <a:lnR w="5715">
                      <a:solidFill>
                        <a:srgbClr val="DACFC0"/>
                      </a:solidFill>
                      <a:prstDash val="solid"/>
                    </a:lnR>
                    <a:lnB w="5715">
                      <a:solidFill>
                        <a:srgbClr val="DACFC0"/>
                      </a:solidFill>
                      <a:prstDash val="solid"/>
                    </a:lnB>
                    <a:solidFill>
                      <a:srgbClr val="F6EFE6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r"/>
                      <a:r>
                        <a:rPr sz="1050" b="0">
                          <a:solidFill>
                            <a:srgbClr val="21281F"/>
                          </a:solidFill>
                          <a:latin typeface="TeX Gyre Adventor"/>
                          <a:ea typeface="TeX Gyre Adventor"/>
                          <a:cs typeface="TeX Gyre Adventor"/>
                        </a:rPr>
                        <a:t>5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ACFC0"/>
                      </a:solidFill>
                      <a:prstDash val="solid"/>
                    </a:lnR>
                    <a:lnB w="5715">
                      <a:solidFill>
                        <a:srgbClr val="DACFC0"/>
                      </a:solidFill>
                      <a:prstDash val="solid"/>
                    </a:lnB>
                    <a:solidFill>
                      <a:srgbClr val="F6EFE6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r"/>
                      <a:r>
                        <a:rPr sz="1050" b="0">
                          <a:solidFill>
                            <a:srgbClr val="21281F"/>
                          </a:solidFill>
                          <a:latin typeface="TeX Gyre Adventor"/>
                          <a:ea typeface="TeX Gyre Adventor"/>
                          <a:cs typeface="TeX Gyre Adventor"/>
                        </a:rPr>
                        <a:t>50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ACFC0"/>
                      </a:solidFill>
                      <a:prstDash val="solid"/>
                    </a:lnR>
                    <a:lnB w="5715">
                      <a:solidFill>
                        <a:srgbClr val="DACFC0"/>
                      </a:solidFill>
                      <a:prstDash val="solid"/>
                    </a:lnB>
                    <a:solidFill>
                      <a:srgbClr val="F6EFE6"/>
                    </a:solidFill>
                  </a:tcPr>
                </a:tc>
              </a:tr>
              <a:tr h="438150">
                <a:tc>
                  <a:txBody>
                    <a:bodyPr lIns="76200" tIns="76200" rIns="76200" bIns="76200"/>
                    <a:lstStyle/>
                    <a:p>
                      <a:pPr algn="l"/>
                      <a:r>
                        <a:rPr sz="1050" b="0">
                          <a:solidFill>
                            <a:srgbClr val="21281F"/>
                          </a:solidFill>
                          <a:latin typeface="TeX Gyre Adventor"/>
                          <a:ea typeface="TeX Gyre Adventor"/>
                          <a:cs typeface="TeX Gyre Adventor"/>
                        </a:rPr>
                        <a:t>Research / month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ACFC0"/>
                      </a:solidFill>
                      <a:prstDash val="solid"/>
                    </a:lnL>
                    <a:lnR w="5715">
                      <a:solidFill>
                        <a:srgbClr val="DACFC0"/>
                      </a:solidFill>
                      <a:prstDash val="solid"/>
                    </a:lnR>
                    <a:lnB w="5715">
                      <a:solidFill>
                        <a:srgbClr val="DACFC0"/>
                      </a:solidFill>
                      <a:prstDash val="solid"/>
                    </a:lnB>
                    <a:solidFill>
                      <a:srgbClr val="F6EFE6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r"/>
                      <a:r>
                        <a:rPr sz="1050" b="0">
                          <a:solidFill>
                            <a:srgbClr val="21281F"/>
                          </a:solidFill>
                          <a:latin typeface="TeX Gyre Adventor"/>
                          <a:ea typeface="TeX Gyre Adventor"/>
                          <a:cs typeface="TeX Gyre Adventor"/>
                        </a:rPr>
                        <a:t>Trial only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ACFC0"/>
                      </a:solidFill>
                      <a:prstDash val="solid"/>
                    </a:lnR>
                    <a:lnB w="5715">
                      <a:solidFill>
                        <a:srgbClr val="DACFC0"/>
                      </a:solidFill>
                      <a:prstDash val="solid"/>
                    </a:lnB>
                    <a:solidFill>
                      <a:srgbClr val="F6EFE6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r"/>
                      <a:r>
                        <a:rPr sz="1050" b="0">
                          <a:solidFill>
                            <a:srgbClr val="21281F"/>
                          </a:solidFill>
                          <a:latin typeface="TeX Gyre Adventor"/>
                          <a:ea typeface="TeX Gyre Adventor"/>
                          <a:cs typeface="TeX Gyre Adventor"/>
                        </a:rPr>
                        <a:t>1 capped run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ACFC0"/>
                      </a:solidFill>
                      <a:prstDash val="solid"/>
                    </a:lnR>
                    <a:lnB w="5715">
                      <a:solidFill>
                        <a:srgbClr val="DACFC0"/>
                      </a:solidFill>
                      <a:prstDash val="solid"/>
                    </a:lnB>
                    <a:solidFill>
                      <a:srgbClr val="F6EFE6"/>
                    </a:solidFill>
                  </a:tcPr>
                </a:tc>
              </a:tr>
            </a:tbl>
          </a:graphicData>
        </a:graphic>
      </p:graphicFrame>
      <p:sp>
        <p:nvSpPr>
          <p:cNvPr id="10" name="element-102">
            <a:extLst xmlns:a="http://schemas.openxmlformats.org/drawingml/2006/main">
              <a:ext uri="{FF2B5EF4-FFF2-40B4-BE49-F238E27FC236}">
                <a16:creationId xmlns:a16="http://schemas.microsoft.com/office/drawing/2014/main" id="{3BA5B13F-6AA6-4EDF-AEC4-1082D9AA8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981450"/>
            <a:ext cx="4000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1050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1050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1050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1050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1050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1050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1050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1050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1050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050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rPr>
              <a:t>These are pricing hypotheses. Current restricted demo quotas differ. Existing pages stay readable after downgrade.</a:t>
            </a:r>
          </a:p>
        </p:txBody>
      </p:sp>
      <p:sp>
        <p:nvSpPr>
          <p:cNvPr id="11" name="element-103">
            <a:extLst xmlns:a="http://schemas.openxmlformats.org/drawingml/2006/main">
              <a:ext uri="{FF2B5EF4-FFF2-40B4-BE49-F238E27FC236}">
                <a16:creationId xmlns:a16="http://schemas.microsoft.com/office/drawing/2014/main" id="{440F8306-968F-4177-B24C-55C363D27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0"/>
            <a:ext cx="8115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C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element-104">
            <a:extLst xmlns:a="http://schemas.openxmlformats.org/drawingml/2006/main">
              <a:ext uri="{FF2B5EF4-FFF2-40B4-BE49-F238E27FC236}">
                <a16:creationId xmlns:a16="http://schemas.microsoft.com/office/drawing/2014/main" id="{F73A3909-863B-4E8E-92BD-73A4CE6BD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76775"/>
            <a:ext cx="7524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38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938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938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938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938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938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938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938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938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938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938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938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rPr>
              <a:t>Alternatives: Day One Silver $49.99/year, Gold $74.99/year. Journey $4.17/month billed annually. Schema tests crafted pages with reviewed event context.</a:t>
            </a:r>
          </a:p>
        </p:txBody>
      </p:sp>
      <p:sp>
        <p:nvSpPr>
          <p:cNvPr id="13" name="element-105">
            <a:extLst xmlns:a="http://schemas.openxmlformats.org/drawingml/2006/main">
              <a:ext uri="{FF2B5EF4-FFF2-40B4-BE49-F238E27FC236}">
                <a16:creationId xmlns:a16="http://schemas.microsoft.com/office/drawing/2014/main" id="{EB2359E2-0FDC-4CEE-924E-5807E5BBA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857750"/>
            <a:ext cx="381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defPPr>
            <a:lvl1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1pPr>
            <a:lvl2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2pPr>
            <a:lvl3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3pPr>
            <a:lvl4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4pPr>
            <a:lvl5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5pPr>
            <a:lvl6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6pPr>
            <a:lvl7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7pPr>
            <a:lvl8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8pPr>
            <a:lvl9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rPr>
              <a:t>7 / 8</a:t>
            </a:r>
          </a:p>
        </p:txBody>
      </p:sp>
    </p:spTree>
    <p:extLst>
      <p:ext uri="{BB962C8B-B14F-4D97-AF65-F5344CB8AC3E}">
        <p14:creationId xmlns:p14="http://schemas.microsoft.com/office/powerpoint/2010/main" val="30409906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EF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element-106">
            <a:extLst xmlns:a="http://schemas.openxmlformats.org/drawingml/2006/main">
              <a:ext uri="{FF2B5EF4-FFF2-40B4-BE49-F238E27FC236}">
                <a16:creationId xmlns:a16="http://schemas.microsoft.com/office/drawing/2014/main" id="{D0E7B0F1-F117-4332-8E9E-C35199434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8096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defPPr>
            <a:lvl1pPr algn="l">
              <a:def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1pPr>
            <a:lvl2pPr algn="l">
              <a:def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2pPr>
            <a:lvl3pPr algn="l">
              <a:def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3pPr>
            <a:lvl4pPr algn="l">
              <a:def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4pPr>
            <a:lvl5pPr algn="l">
              <a:def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5pPr>
            <a:lvl6pPr algn="l">
              <a:def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6pPr>
            <a:lvl7pPr algn="l">
              <a:def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7pPr>
            <a:lvl8pPr algn="l">
              <a:def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8pPr>
            <a:lvl9pPr algn="l">
              <a:def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9pPr>
          </a:lstStyle>
          <a:p xmlns:a="http://schemas.openxmlformats.org/drawingml/2006/main">
            <a:pPr algn="l">
              <a:def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pPr>
            <a:r>
              <a:rPr sz="2550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rPr>
              <a:t>Prototype and future scope</a:t>
            </a:r>
          </a:p>
        </p:txBody>
      </p:sp>
      <p:sp>
        <p:nvSpPr>
          <p:cNvPr id="2" name="element-107">
            <a:extLst xmlns:a="http://schemas.openxmlformats.org/drawingml/2006/main">
              <a:ext uri="{FF2B5EF4-FFF2-40B4-BE49-F238E27FC236}">
                <a16:creationId xmlns:a16="http://schemas.microsoft.com/office/drawing/2014/main" id="{5E35C354-CBE7-4EA2-AD55-CD6F22267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23975"/>
            <a:ext cx="409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rPr>
              <a:t>IN THE PROTOTYPE</a:t>
            </a:r>
          </a:p>
        </p:txBody>
      </p:sp>
      <p:sp>
        <p:nvSpPr>
          <p:cNvPr id="3" name="element-108">
            <a:extLst xmlns:a="http://schemas.openxmlformats.org/drawingml/2006/main">
              <a:ext uri="{FF2B5EF4-FFF2-40B4-BE49-F238E27FC236}">
                <a16:creationId xmlns:a16="http://schemas.microsoft.com/office/drawing/2014/main" id="{7C3013EA-7700-47D5-A197-66665FE98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3830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defPPr>
            <a:lvl1pPr algn="l">
              <a:defRPr sz="17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1pPr>
            <a:lvl2pPr algn="l">
              <a:defRPr sz="17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2pPr>
            <a:lvl3pPr algn="l">
              <a:defRPr sz="17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3pPr>
            <a:lvl4pPr algn="l">
              <a:defRPr sz="17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4pPr>
            <a:lvl5pPr algn="l">
              <a:defRPr sz="17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5pPr>
            <a:lvl6pPr algn="l">
              <a:defRPr sz="17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6pPr>
            <a:lvl7pPr algn="l">
              <a:defRPr sz="17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7pPr>
            <a:lvl8pPr algn="l">
              <a:defRPr sz="17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8pPr>
            <a:lvl9pPr algn="l">
              <a:defRPr sz="17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9pPr>
          </a:lstStyle>
          <a:p xmlns:a="http://schemas.openxmlformats.org/drawingml/2006/main">
            <a:pPr algn="l">
              <a:defRPr sz="17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pPr>
            <a:r>
              <a:rPr sz="17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rPr>
              <a:t>Journal pages</a:t>
            </a:r>
          </a:p>
        </p:txBody>
      </p:sp>
      <p:sp>
        <p:nvSpPr>
          <p:cNvPr id="4" name="element-109">
            <a:extLst xmlns:a="http://schemas.openxmlformats.org/drawingml/2006/main">
              <a:ext uri="{FF2B5EF4-FFF2-40B4-BE49-F238E27FC236}">
                <a16:creationId xmlns:a16="http://schemas.microsoft.com/office/drawing/2014/main" id="{7FAE8AF6-C73E-4DC7-8052-67971226F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14525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rPr>
              <a:t>Photos, personal notes and a life archive</a:t>
            </a:r>
          </a:p>
        </p:txBody>
      </p:sp>
      <p:sp>
        <p:nvSpPr>
          <p:cNvPr id="5" name="element-110">
            <a:extLst xmlns:a="http://schemas.openxmlformats.org/drawingml/2006/main">
              <a:ext uri="{FF2B5EF4-FFF2-40B4-BE49-F238E27FC236}">
                <a16:creationId xmlns:a16="http://schemas.microsoft.com/office/drawing/2014/main" id="{C5668EC1-11FC-4FDA-B4B5-0D41EA49E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669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defPPr>
            <a:lvl1pPr algn="l">
              <a:defRPr sz="17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1pPr>
            <a:lvl2pPr algn="l">
              <a:defRPr sz="17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2pPr>
            <a:lvl3pPr algn="l">
              <a:defRPr sz="17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3pPr>
            <a:lvl4pPr algn="l">
              <a:defRPr sz="17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4pPr>
            <a:lvl5pPr algn="l">
              <a:defRPr sz="17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5pPr>
            <a:lvl6pPr algn="l">
              <a:defRPr sz="17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6pPr>
            <a:lvl7pPr algn="l">
              <a:defRPr sz="17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7pPr>
            <a:lvl8pPr algn="l">
              <a:defRPr sz="17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8pPr>
            <a:lvl9pPr algn="l">
              <a:defRPr sz="17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9pPr>
          </a:lstStyle>
          <a:p xmlns:a="http://schemas.openxmlformats.org/drawingml/2006/main">
            <a:pPr algn="l">
              <a:defRPr sz="17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pPr>
            <a:r>
              <a:rPr sz="17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rPr>
              <a:t>Public event research</a:t>
            </a:r>
          </a:p>
        </p:txBody>
      </p:sp>
      <p:sp>
        <p:nvSpPr>
          <p:cNvPr id="6" name="element-111">
            <a:extLst xmlns:a="http://schemas.openxmlformats.org/drawingml/2006/main">
              <a:ext uri="{FF2B5EF4-FFF2-40B4-BE49-F238E27FC236}">
                <a16:creationId xmlns:a16="http://schemas.microsoft.com/office/drawing/2014/main" id="{5B549A0C-9873-4A36-AC86-FC8574177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43175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rPr>
              <a:t>TinyFish reads the event website</a:t>
            </a:r>
          </a:p>
        </p:txBody>
      </p:sp>
      <p:sp>
        <p:nvSpPr>
          <p:cNvPr id="7" name="element-112">
            <a:extLst xmlns:a="http://schemas.openxmlformats.org/drawingml/2006/main">
              <a:ext uri="{FF2B5EF4-FFF2-40B4-BE49-F238E27FC236}">
                <a16:creationId xmlns:a16="http://schemas.microsoft.com/office/drawing/2014/main" id="{47E7F1A7-8986-4DC8-B8EE-C2514BBAF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9560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defPPr>
            <a:lvl1pPr algn="l">
              <a:defRPr sz="17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1pPr>
            <a:lvl2pPr algn="l">
              <a:defRPr sz="17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2pPr>
            <a:lvl3pPr algn="l">
              <a:defRPr sz="17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3pPr>
            <a:lvl4pPr algn="l">
              <a:defRPr sz="17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4pPr>
            <a:lvl5pPr algn="l">
              <a:defRPr sz="17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5pPr>
            <a:lvl6pPr algn="l">
              <a:defRPr sz="17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6pPr>
            <a:lvl7pPr algn="l">
              <a:defRPr sz="17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7pPr>
            <a:lvl8pPr algn="l">
              <a:defRPr sz="17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8pPr>
            <a:lvl9pPr algn="l">
              <a:defRPr sz="17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9pPr>
          </a:lstStyle>
          <a:p xmlns:a="http://schemas.openxmlformats.org/drawingml/2006/main">
            <a:pPr algn="l">
              <a:defRPr sz="17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pPr>
            <a:r>
              <a:rPr sz="17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rPr>
              <a:t>Review before saving</a:t>
            </a:r>
          </a:p>
        </p:txBody>
      </p:sp>
      <p:sp>
        <p:nvSpPr>
          <p:cNvPr id="8" name="element-113">
            <a:extLst xmlns:a="http://schemas.openxmlformats.org/drawingml/2006/main">
              <a:ext uri="{FF2B5EF4-FFF2-40B4-BE49-F238E27FC236}">
                <a16:creationId xmlns:a16="http://schemas.microsoft.com/office/drawing/2014/main" id="{CE3CAC02-0E11-4AAB-922C-B9C4EA026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71825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rPr>
              <a:t>Only approved facts enter the draft</a:t>
            </a:r>
          </a:p>
        </p:txBody>
      </p:sp>
      <p:sp>
        <p:nvSpPr>
          <p:cNvPr id="9" name="element-114">
            <a:extLst xmlns:a="http://schemas.openxmlformats.org/drawingml/2006/main">
              <a:ext uri="{FF2B5EF4-FFF2-40B4-BE49-F238E27FC236}">
                <a16:creationId xmlns:a16="http://schemas.microsoft.com/office/drawing/2014/main" id="{7F9BCDF1-46BF-4B05-A2B0-A196B1155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242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defPPr>
            <a:lvl1pPr algn="l">
              <a:defRPr sz="17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1pPr>
            <a:lvl2pPr algn="l">
              <a:defRPr sz="17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2pPr>
            <a:lvl3pPr algn="l">
              <a:defRPr sz="17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3pPr>
            <a:lvl4pPr algn="l">
              <a:defRPr sz="17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4pPr>
            <a:lvl5pPr algn="l">
              <a:defRPr sz="17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5pPr>
            <a:lvl6pPr algn="l">
              <a:defRPr sz="17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6pPr>
            <a:lvl7pPr algn="l">
              <a:defRPr sz="17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7pPr>
            <a:lvl8pPr algn="l">
              <a:defRPr sz="17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8pPr>
            <a:lvl9pPr algn="l">
              <a:defRPr sz="17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9pPr>
          </a:lstStyle>
          <a:p xmlns:a="http://schemas.openxmlformats.org/drawingml/2006/main">
            <a:pPr algn="l">
              <a:defRPr sz="17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pPr>
            <a:r>
              <a:rPr sz="172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rPr>
              <a:t>Source provenance</a:t>
            </a:r>
          </a:p>
        </p:txBody>
      </p:sp>
      <p:sp>
        <p:nvSpPr>
          <p:cNvPr id="10" name="element-115">
            <a:extLst xmlns:a="http://schemas.openxmlformats.org/drawingml/2006/main">
              <a:ext uri="{FF2B5EF4-FFF2-40B4-BE49-F238E27FC236}">
                <a16:creationId xmlns:a16="http://schemas.microsoft.com/office/drawing/2014/main" id="{DAA8760D-4918-4D1A-8FB1-9FD4C7615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00475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125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rPr>
              <a:t>Event links and retrieval time stay visible</a:t>
            </a:r>
          </a:p>
        </p:txBody>
      </p:sp>
      <p:sp>
        <p:nvSpPr>
          <p:cNvPr id="11" name="element-116">
            <a:extLst xmlns:a="http://schemas.openxmlformats.org/drawingml/2006/main">
              <a:ext uri="{FF2B5EF4-FFF2-40B4-BE49-F238E27FC236}">
                <a16:creationId xmlns:a16="http://schemas.microsoft.com/office/drawing/2014/main" id="{F2D9344C-C7FA-4557-A6C0-0ABB4F35B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323975"/>
            <a:ext cx="3524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rPr>
              <a:t>CURRENT EVIDENCE</a:t>
            </a:r>
          </a:p>
        </p:txBody>
      </p:sp>
      <p:sp>
        <p:nvSpPr>
          <p:cNvPr id="12" name="element-117">
            <a:extLst xmlns:a="http://schemas.openxmlformats.org/drawingml/2006/main">
              <a:ext uri="{FF2B5EF4-FFF2-40B4-BE49-F238E27FC236}">
                <a16:creationId xmlns:a16="http://schemas.microsoft.com/office/drawing/2014/main" id="{04EBEBDA-E521-4B4E-8E0E-1AB5CA5F4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628775"/>
            <a:ext cx="762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7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defPPr>
            <a:lvl1pPr algn="l">
              <a:defRPr sz="307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1pPr>
            <a:lvl2pPr algn="l">
              <a:defRPr sz="307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2pPr>
            <a:lvl3pPr algn="l">
              <a:defRPr sz="307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3pPr>
            <a:lvl4pPr algn="l">
              <a:defRPr sz="307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4pPr>
            <a:lvl5pPr algn="l">
              <a:defRPr sz="307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5pPr>
            <a:lvl6pPr algn="l">
              <a:defRPr sz="307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6pPr>
            <a:lvl7pPr algn="l">
              <a:defRPr sz="307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7pPr>
            <a:lvl8pPr algn="l">
              <a:defRPr sz="307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8pPr>
            <a:lvl9pPr algn="l">
              <a:defRPr sz="307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9pPr>
          </a:lstStyle>
          <a:p xmlns:a="http://schemas.openxmlformats.org/drawingml/2006/main">
            <a:pPr algn="l">
              <a:defRPr sz="307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pPr>
            <a:r>
              <a:rPr sz="307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rPr>
              <a:t>86</a:t>
            </a:r>
          </a:p>
        </p:txBody>
      </p:sp>
      <p:sp>
        <p:nvSpPr>
          <p:cNvPr id="13" name="element-118">
            <a:extLst xmlns:a="http://schemas.openxmlformats.org/drawingml/2006/main">
              <a:ext uri="{FF2B5EF4-FFF2-40B4-BE49-F238E27FC236}">
                <a16:creationId xmlns:a16="http://schemas.microsoft.com/office/drawing/2014/main" id="{E912BE15-807D-4BF3-A611-2AD5F3F7F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1666875"/>
            <a:ext cx="26860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rPr>
              <a:t>automated tests passing</a:t>
            </a:r>
          </a:p>
          <a:p xmlns:a="http://schemas.openxmlformats.org/drawingml/2006/main">
            <a: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rPr>
              <a:t>Customer build and type checks pass</a:t>
            </a:r>
          </a:p>
        </p:txBody>
      </p:sp>
      <p:sp>
        <p:nvSpPr>
          <p:cNvPr id="14" name="element-119">
            <a:extLst xmlns:a="http://schemas.openxmlformats.org/drawingml/2006/main">
              <a:ext uri="{FF2B5EF4-FFF2-40B4-BE49-F238E27FC236}">
                <a16:creationId xmlns:a16="http://schemas.microsoft.com/office/drawing/2014/main" id="{9CABC61A-7394-4F53-BD74-AA863FBBD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276475"/>
            <a:ext cx="762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7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defPPr>
            <a:lvl1pPr algn="l">
              <a:defRPr sz="307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1pPr>
            <a:lvl2pPr algn="l">
              <a:defRPr sz="307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2pPr>
            <a:lvl3pPr algn="l">
              <a:defRPr sz="307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3pPr>
            <a:lvl4pPr algn="l">
              <a:defRPr sz="307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4pPr>
            <a:lvl5pPr algn="l">
              <a:defRPr sz="307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5pPr>
            <a:lvl6pPr algn="l">
              <a:defRPr sz="307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6pPr>
            <a:lvl7pPr algn="l">
              <a:defRPr sz="307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7pPr>
            <a:lvl8pPr algn="l">
              <a:defRPr sz="307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8pPr>
            <a:lvl9pPr algn="l">
              <a:defRPr sz="307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lvl9pPr>
          </a:lstStyle>
          <a:p xmlns:a="http://schemas.openxmlformats.org/drawingml/2006/main">
            <a:pPr algn="l">
              <a:defRPr sz="307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defRPr>
            </a:pPr>
            <a:r>
              <a:rPr sz="3075" b="1" i="0">
                <a:solidFill>
                  <a:srgbClr val="21281F"/>
                </a:solidFill>
                <a:latin typeface="TeX Gyre Schola"/>
                <a:ea typeface="TeX Gyre Schola"/>
                <a:cs typeface="TeX Gyre Schola"/>
              </a:rPr>
              <a:t>5</a:t>
            </a:r>
          </a:p>
        </p:txBody>
      </p:sp>
      <p:sp>
        <p:nvSpPr>
          <p:cNvPr id="15" name="element-120">
            <a:extLst xmlns:a="http://schemas.openxmlformats.org/drawingml/2006/main">
              <a:ext uri="{FF2B5EF4-FFF2-40B4-BE49-F238E27FC236}">
                <a16:creationId xmlns:a16="http://schemas.microsoft.com/office/drawing/2014/main" id="{60752E95-16C8-4BAD-942C-3071AFE12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2314575"/>
            <a:ext cx="2686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rPr>
              <a:t>steps in a live TinyFish provider test</a:t>
            </a:r>
          </a:p>
          <a:p xmlns:a="http://schemas.openxmlformats.org/drawingml/2006/main">
            <a:pPr algn="l">
              <a:def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20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rPr>
              <a:t>Recorded result included in the repository</a:t>
            </a:r>
          </a:p>
        </p:txBody>
      </p:sp>
      <p:sp>
        <p:nvSpPr>
          <p:cNvPr id="16" name="element-121">
            <a:extLst xmlns:a="http://schemas.openxmlformats.org/drawingml/2006/main">
              <a:ext uri="{FF2B5EF4-FFF2-40B4-BE49-F238E27FC236}">
                <a16:creationId xmlns:a16="http://schemas.microsoft.com/office/drawing/2014/main" id="{09A12D49-794B-4D57-8260-8ED1CCD78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019425"/>
            <a:ext cx="357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AC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element-122">
            <a:extLst xmlns:a="http://schemas.openxmlformats.org/drawingml/2006/main">
              <a:ext uri="{FF2B5EF4-FFF2-40B4-BE49-F238E27FC236}">
                <a16:creationId xmlns:a16="http://schemas.microsoft.com/office/drawing/2014/main" id="{83C8285E-83A9-4123-AB6D-6E1DD1524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1813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938" b="1" i="0">
                <a:solidFill>
                  <a:srgbClr val="BD422C"/>
                </a:solidFill>
                <a:latin typeface="TeX Gyre Adventor"/>
                <a:ea typeface="TeX Gyre Adventor"/>
                <a:cs typeface="TeX Gyre Adventor"/>
              </a:rPr>
              <a:t>NEXT BUILD</a:t>
            </a:r>
          </a:p>
        </p:txBody>
      </p:sp>
      <p:sp>
        <p:nvSpPr>
          <p:cNvPr id="18" name="element-123">
            <a:extLst xmlns:a="http://schemas.openxmlformats.org/drawingml/2006/main">
              <a:ext uri="{FF2B5EF4-FFF2-40B4-BE49-F238E27FC236}">
                <a16:creationId xmlns:a16="http://schemas.microsoft.com/office/drawing/2014/main" id="{D6FD6EE2-8A44-43A5-AC5B-3884161CB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438525"/>
            <a:ext cx="3571875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350" b="0" i="0">
                <a:solidFill>
                  <a:srgbClr val="21281F"/>
                </a:solidFill>
                <a:latin typeface="TeX Gyre Adventor"/>
                <a:ea typeface="TeX Gyre Adventor"/>
                <a:cs typeface="TeX Gyre Adventor"/>
              </a:rPr>
              <a:t>Pilot with 20 adult users. Improve memory retrieval, then evaluate voice and selected media imports.</a:t>
            </a:r>
          </a:p>
        </p:txBody>
      </p:sp>
      <p:sp>
        <p:nvSpPr>
          <p:cNvPr id="19" name="element-124">
            <a:extLst xmlns:a="http://schemas.openxmlformats.org/drawingml/2006/main">
              <a:ext uri="{FF2B5EF4-FFF2-40B4-BE49-F238E27FC236}">
                <a16:creationId xmlns:a16="http://schemas.microsoft.com/office/drawing/2014/main" id="{1196EFC4-AA16-4B16-86F6-4EB7469DE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200525"/>
            <a:ext cx="3571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1200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1200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1200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1200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1200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1200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1200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1200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1200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1200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200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rPr>
              <a:t>Longer term: native mobile pages, confirmed memory threads and carefully scoped shared albums.</a:t>
            </a:r>
          </a:p>
        </p:txBody>
      </p:sp>
      <p:sp>
        <p:nvSpPr>
          <p:cNvPr id="20" name="element-125">
            <a:extLst xmlns:a="http://schemas.openxmlformats.org/drawingml/2006/main">
              <a:ext uri="{FF2B5EF4-FFF2-40B4-BE49-F238E27FC236}">
                <a16:creationId xmlns:a16="http://schemas.microsoft.com/office/drawing/2014/main" id="{FBEBA13D-404C-4F62-A1B2-7355F8447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3865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defPPr>
            <a:lvl1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1pPr>
            <a:lvl2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2pPr>
            <a:lvl3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3pPr>
            <a:lvl4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4pPr>
            <a:lvl5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5pPr>
            <a:lvl6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6pPr>
            <a:lvl7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7pPr>
            <a:lvl8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8pPr>
            <a:lvl9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l">
              <a:def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11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rPr>
              <a:t>Team LineOfCode  ·  DTU</a:t>
            </a:r>
          </a:p>
        </p:txBody>
      </p:sp>
      <p:sp>
        <p:nvSpPr>
          <p:cNvPr id="21" name="element-126">
            <a:extLst xmlns:a="http://schemas.openxmlformats.org/drawingml/2006/main">
              <a:ext uri="{FF2B5EF4-FFF2-40B4-BE49-F238E27FC236}">
                <a16:creationId xmlns:a16="http://schemas.microsoft.com/office/drawing/2014/main" id="{575F07BE-2807-4344-A24B-34509E300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857750"/>
            <a:ext cx="381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defPPr>
            <a:lvl1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1pPr>
            <a:lvl2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2pPr>
            <a:lvl3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3pPr>
            <a:lvl4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4pPr>
            <a:lvl5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5pPr>
            <a:lvl6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6pPr>
            <a:lvl7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7pPr>
            <a:lvl8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8pPr>
            <a:lvl9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lvl9pPr>
          </a:lstStyle>
          <a:p xmlns:a="http://schemas.openxmlformats.org/drawingml/2006/main">
            <a:pPr algn="r">
              <a:def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defRPr>
            </a:pPr>
            <a:r>
              <a:rPr sz="825" b="0" i="0">
                <a:solidFill>
                  <a:srgbClr val="67685E"/>
                </a:solidFill>
                <a:latin typeface="TeX Gyre Adventor"/>
                <a:ea typeface="TeX Gyre Adventor"/>
                <a:cs typeface="TeX Gyre Adventor"/>
              </a:rPr>
              <a:t>8 / 8</a:t>
            </a:r>
          </a:p>
        </p:txBody>
      </p:sp>
    </p:spTree>
    <p:extLst>
      <p:ext uri="{BB962C8B-B14F-4D97-AF65-F5344CB8AC3E}">
        <p14:creationId xmlns:p14="http://schemas.microsoft.com/office/powerpoint/2010/main" val="200367589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2026-10-20T09:49:56.9000000Z</dcterms:created>
  <dcterms:modified xsi:type="dcterms:W3CDTF">2026-10-20T09:49:56.9000000Z</dcterms:modified>
</coreProperties>
</file>